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8"/>
  </p:notesMasterIdLst>
  <p:handoutMasterIdLst>
    <p:handoutMasterId r:id="rId99"/>
  </p:handoutMasterIdLst>
  <p:sldIdLst>
    <p:sldId id="580" r:id="rId2"/>
    <p:sldId id="505" r:id="rId3"/>
    <p:sldId id="508" r:id="rId4"/>
    <p:sldId id="581" r:id="rId5"/>
    <p:sldId id="638" r:id="rId6"/>
    <p:sldId id="645" r:id="rId7"/>
    <p:sldId id="511" r:id="rId8"/>
    <p:sldId id="512" r:id="rId9"/>
    <p:sldId id="513" r:id="rId10"/>
    <p:sldId id="582" r:id="rId11"/>
    <p:sldId id="514" r:id="rId12"/>
    <p:sldId id="583" r:id="rId13"/>
    <p:sldId id="518" r:id="rId14"/>
    <p:sldId id="584" r:id="rId15"/>
    <p:sldId id="585" r:id="rId16"/>
    <p:sldId id="586" r:id="rId17"/>
    <p:sldId id="587" r:id="rId18"/>
    <p:sldId id="642" r:id="rId19"/>
    <p:sldId id="604" r:id="rId20"/>
    <p:sldId id="641" r:id="rId21"/>
    <p:sldId id="643" r:id="rId22"/>
    <p:sldId id="605" r:id="rId23"/>
    <p:sldId id="606" r:id="rId24"/>
    <p:sldId id="707" r:id="rId25"/>
    <p:sldId id="706" r:id="rId26"/>
    <p:sldId id="607" r:id="rId27"/>
    <p:sldId id="660" r:id="rId28"/>
    <p:sldId id="661" r:id="rId29"/>
    <p:sldId id="662" r:id="rId30"/>
    <p:sldId id="663" r:id="rId31"/>
    <p:sldId id="664" r:id="rId32"/>
    <p:sldId id="665" r:id="rId33"/>
    <p:sldId id="659" r:id="rId34"/>
    <p:sldId id="647" r:id="rId35"/>
    <p:sldId id="648" r:id="rId36"/>
    <p:sldId id="528" r:id="rId37"/>
    <p:sldId id="529" r:id="rId38"/>
    <p:sldId id="710" r:id="rId39"/>
    <p:sldId id="530" r:id="rId40"/>
    <p:sldId id="531" r:id="rId41"/>
    <p:sldId id="532" r:id="rId42"/>
    <p:sldId id="533" r:id="rId43"/>
    <p:sldId id="534" r:id="rId44"/>
    <p:sldId id="535" r:id="rId45"/>
    <p:sldId id="536" r:id="rId46"/>
    <p:sldId id="571" r:id="rId47"/>
    <p:sldId id="666" r:id="rId48"/>
    <p:sldId id="667" r:id="rId49"/>
    <p:sldId id="668" r:id="rId50"/>
    <p:sldId id="669" r:id="rId51"/>
    <p:sldId id="670" r:id="rId52"/>
    <p:sldId id="602" r:id="rId53"/>
    <p:sldId id="601" r:id="rId54"/>
    <p:sldId id="671" r:id="rId55"/>
    <p:sldId id="672" r:id="rId56"/>
    <p:sldId id="673" r:id="rId57"/>
    <p:sldId id="589" r:id="rId58"/>
    <p:sldId id="590" r:id="rId59"/>
    <p:sldId id="595" r:id="rId60"/>
    <p:sldId id="593" r:id="rId61"/>
    <p:sldId id="598" r:id="rId62"/>
    <p:sldId id="600" r:id="rId63"/>
    <p:sldId id="681" r:id="rId64"/>
    <p:sldId id="682" r:id="rId65"/>
    <p:sldId id="683" r:id="rId66"/>
    <p:sldId id="687" r:id="rId67"/>
    <p:sldId id="609" r:id="rId68"/>
    <p:sldId id="611" r:id="rId69"/>
    <p:sldId id="639" r:id="rId70"/>
    <p:sldId id="640" r:id="rId71"/>
    <p:sldId id="690" r:id="rId72"/>
    <p:sldId id="691" r:id="rId73"/>
    <p:sldId id="692" r:id="rId74"/>
    <p:sldId id="613" r:id="rId75"/>
    <p:sldId id="615" r:id="rId76"/>
    <p:sldId id="693" r:id="rId77"/>
    <p:sldId id="694" r:id="rId78"/>
    <p:sldId id="695" r:id="rId79"/>
    <p:sldId id="617" r:id="rId80"/>
    <p:sldId id="696" r:id="rId81"/>
    <p:sldId id="698" r:id="rId82"/>
    <p:sldId id="701" r:id="rId83"/>
    <p:sldId id="700" r:id="rId84"/>
    <p:sldId id="699" r:id="rId85"/>
    <p:sldId id="618" r:id="rId86"/>
    <p:sldId id="688" r:id="rId87"/>
    <p:sldId id="644" r:id="rId88"/>
    <p:sldId id="620" r:id="rId89"/>
    <p:sldId id="703" r:id="rId90"/>
    <p:sldId id="697" r:id="rId91"/>
    <p:sldId id="558" r:id="rId92"/>
    <p:sldId id="559" r:id="rId93"/>
    <p:sldId id="560" r:id="rId94"/>
    <p:sldId id="561" r:id="rId95"/>
    <p:sldId id="562" r:id="rId96"/>
    <p:sldId id="654" r:id="rId97"/>
  </p:sldIdLst>
  <p:sldSz cx="12192000" cy="6858000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022C"/>
    <a:srgbClr val="CC0000"/>
    <a:srgbClr val="FFFFFF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5D9452-E1B6-43E3-AAC0-93F1CE41D2AC}" v="1" dt="2025-10-27T05:19:22.9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6186" autoAdjust="0"/>
    <p:restoredTop sz="96552" autoAdjust="0"/>
  </p:normalViewPr>
  <p:slideViewPr>
    <p:cSldViewPr snapToGrid="0">
      <p:cViewPr varScale="1">
        <p:scale>
          <a:sx n="65" d="100"/>
          <a:sy n="65" d="100"/>
        </p:scale>
        <p:origin x="1757" y="2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handoutMaster" Target="handoutMasters/handoutMaster1.xml"/><Relationship Id="rId10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microsoft.com/office/2016/11/relationships/changesInfo" Target="changesInfos/changesInfo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presProps" Target="presProps.xml"/><Relationship Id="rId105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寛 長山" userId="84ea20081d1a4633" providerId="LiveId" clId="{F46363EF-EC6E-47AC-9F93-FA1F73285AA8}"/>
    <pc:docChg chg="modSld">
      <pc:chgData name="寛 長山" userId="84ea20081d1a4633" providerId="LiveId" clId="{F46363EF-EC6E-47AC-9F93-FA1F73285AA8}" dt="2024-07-26T02:21:15.376" v="1" actId="2711"/>
      <pc:docMkLst>
        <pc:docMk/>
      </pc:docMkLst>
      <pc:sldChg chg="modSp mod">
        <pc:chgData name="寛 長山" userId="84ea20081d1a4633" providerId="LiveId" clId="{F46363EF-EC6E-47AC-9F93-FA1F73285AA8}" dt="2024-07-26T02:20:46.865" v="0" actId="2711"/>
        <pc:sldMkLst>
          <pc:docMk/>
          <pc:sldMk cId="1529626784" sldId="534"/>
        </pc:sldMkLst>
      </pc:sldChg>
      <pc:sldChg chg="modSp mod">
        <pc:chgData name="寛 長山" userId="84ea20081d1a4633" providerId="LiveId" clId="{F46363EF-EC6E-47AC-9F93-FA1F73285AA8}" dt="2024-07-26T02:21:15.376" v="1" actId="2711"/>
        <pc:sldMkLst>
          <pc:docMk/>
          <pc:sldMk cId="3741461652" sldId="535"/>
        </pc:sldMkLst>
      </pc:sldChg>
    </pc:docChg>
  </pc:docChgLst>
  <pc:docChgLst>
    <pc:chgData name="寛 長山" userId="84ea20081d1a4633" providerId="LiveId" clId="{157782DE-6E8D-41F2-9221-39ED7B12931E}"/>
    <pc:docChg chg="modSld">
      <pc:chgData name="寛 長山" userId="84ea20081d1a4633" providerId="LiveId" clId="{157782DE-6E8D-41F2-9221-39ED7B12931E}" dt="2024-09-14T02:15:14.868" v="0" actId="20577"/>
      <pc:docMkLst>
        <pc:docMk/>
      </pc:docMkLst>
      <pc:sldChg chg="modSp mod">
        <pc:chgData name="寛 長山" userId="84ea20081d1a4633" providerId="LiveId" clId="{157782DE-6E8D-41F2-9221-39ED7B12931E}" dt="2024-09-14T02:15:14.868" v="0" actId="20577"/>
        <pc:sldMkLst>
          <pc:docMk/>
          <pc:sldMk cId="1843166814" sldId="581"/>
        </pc:sldMkLst>
      </pc:sldChg>
    </pc:docChg>
  </pc:docChgLst>
  <pc:docChgLst>
    <pc:chgData name="寛 長山" userId="84ea20081d1a4633" providerId="LiveId" clId="{782CFAB6-B4B4-462A-8E3C-86490C35A37C}"/>
    <pc:docChg chg="addSld delSld modSld">
      <pc:chgData name="寛 長山" userId="84ea20081d1a4633" providerId="LiveId" clId="{782CFAB6-B4B4-462A-8E3C-86490C35A37C}" dt="2025-10-27T05:19:22.902" v="1"/>
      <pc:docMkLst>
        <pc:docMk/>
      </pc:docMkLst>
      <pc:sldChg chg="add del">
        <pc:chgData name="寛 長山" userId="84ea20081d1a4633" providerId="LiveId" clId="{782CFAB6-B4B4-462A-8E3C-86490C35A37C}" dt="2025-10-27T05:19:22.902" v="1"/>
        <pc:sldMkLst>
          <pc:docMk/>
          <pc:sldMk cId="93918080" sldId="511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59E708-BAA0-41A3-82AE-896B332B674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3F31FBFE-76F5-442D-B3CF-5DC8BC62135F}">
      <dgm:prSet phldrT="[テキスト]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kumimoji="1" lang="ja-JP" altLang="en-US" dirty="0"/>
            <a:t>シークレットグループ</a:t>
          </a:r>
        </a:p>
      </dgm:t>
    </dgm:pt>
    <dgm:pt modelId="{1A3BE2CF-22D4-4D7A-910D-138904C02694}" type="parTrans" cxnId="{5302D83C-7DF3-423D-987E-28DEA257AAB3}">
      <dgm:prSet/>
      <dgm:spPr/>
      <dgm:t>
        <a:bodyPr/>
        <a:lstStyle/>
        <a:p>
          <a:endParaRPr kumimoji="1" lang="ja-JP" altLang="en-US"/>
        </a:p>
      </dgm:t>
    </dgm:pt>
    <dgm:pt modelId="{368D7230-B0BA-4904-8DD8-86B63A51F108}" type="sibTrans" cxnId="{5302D83C-7DF3-423D-987E-28DEA257AAB3}">
      <dgm:prSet/>
      <dgm:spPr/>
      <dgm:t>
        <a:bodyPr/>
        <a:lstStyle/>
        <a:p>
          <a:endParaRPr kumimoji="1" lang="ja-JP" altLang="en-US"/>
        </a:p>
      </dgm:t>
    </dgm:pt>
    <dgm:pt modelId="{7CB8ECE6-4E45-438F-99C2-E5035A6F3F04}">
      <dgm:prSet phldrT="[テキスト]"/>
      <dgm:spPr/>
      <dgm:t>
        <a:bodyPr/>
        <a:lstStyle/>
        <a:p>
          <a:r>
            <a:rPr kumimoji="1" lang="en-US" altLang="ja-JP" dirty="0"/>
            <a:t>1</a:t>
          </a:r>
          <a:r>
            <a:rPr kumimoji="1" lang="ja-JP" altLang="en-US" dirty="0"/>
            <a:t>日目</a:t>
          </a:r>
        </a:p>
      </dgm:t>
    </dgm:pt>
    <dgm:pt modelId="{E481BF81-47AE-40A8-AD1E-84B91BADE575}" type="parTrans" cxnId="{027290BA-CBCA-4724-BC6A-EF7F2ADE1FB2}">
      <dgm:prSet/>
      <dgm:spPr/>
      <dgm:t>
        <a:bodyPr/>
        <a:lstStyle/>
        <a:p>
          <a:endParaRPr kumimoji="1" lang="ja-JP" altLang="en-US"/>
        </a:p>
      </dgm:t>
    </dgm:pt>
    <dgm:pt modelId="{BB9FEE8A-285C-4FF5-9CFB-F6883073BF03}" type="sibTrans" cxnId="{027290BA-CBCA-4724-BC6A-EF7F2ADE1FB2}">
      <dgm:prSet/>
      <dgm:spPr/>
      <dgm:t>
        <a:bodyPr/>
        <a:lstStyle/>
        <a:p>
          <a:endParaRPr kumimoji="1" lang="ja-JP" altLang="en-US"/>
        </a:p>
      </dgm:t>
    </dgm:pt>
    <dgm:pt modelId="{68083B7C-D851-40E6-A29E-94F887BD0C20}">
      <dgm:prSet phldrT="[テキスト]"/>
      <dgm:spPr/>
      <dgm:t>
        <a:bodyPr/>
        <a:lstStyle/>
        <a:p>
          <a:r>
            <a:rPr kumimoji="1" lang="en-US" altLang="ja-JP" dirty="0"/>
            <a:t>2</a:t>
          </a:r>
          <a:r>
            <a:rPr kumimoji="1" lang="ja-JP" altLang="en-US" dirty="0"/>
            <a:t>日目</a:t>
          </a:r>
        </a:p>
      </dgm:t>
    </dgm:pt>
    <dgm:pt modelId="{F47DB015-AA62-48E8-98C1-256DAEF8F121}" type="parTrans" cxnId="{4364CD32-6835-42E3-842F-E896CA425B5E}">
      <dgm:prSet/>
      <dgm:spPr/>
      <dgm:t>
        <a:bodyPr/>
        <a:lstStyle/>
        <a:p>
          <a:endParaRPr kumimoji="1" lang="ja-JP" altLang="en-US"/>
        </a:p>
      </dgm:t>
    </dgm:pt>
    <dgm:pt modelId="{F708C3EC-126A-433F-B867-D4C6B26562BA}" type="sibTrans" cxnId="{4364CD32-6835-42E3-842F-E896CA425B5E}">
      <dgm:prSet/>
      <dgm:spPr/>
      <dgm:t>
        <a:bodyPr/>
        <a:lstStyle/>
        <a:p>
          <a:endParaRPr kumimoji="1" lang="ja-JP" altLang="en-US"/>
        </a:p>
      </dgm:t>
    </dgm:pt>
    <dgm:pt modelId="{524D9C2C-75D9-41D7-94C4-5FDE063CB8AD}">
      <dgm:prSet phldrT="[テキスト]"/>
      <dgm:spPr/>
      <dgm:t>
        <a:bodyPr/>
        <a:lstStyle/>
        <a:p>
          <a:r>
            <a:rPr kumimoji="1" lang="en-US" altLang="ja-JP" dirty="0"/>
            <a:t>3</a:t>
          </a:r>
          <a:r>
            <a:rPr kumimoji="1" lang="ja-JP" altLang="en-US" dirty="0"/>
            <a:t>日目</a:t>
          </a:r>
        </a:p>
      </dgm:t>
    </dgm:pt>
    <dgm:pt modelId="{E7F9E903-4693-4A0E-8260-5D252BCAA78E}" type="parTrans" cxnId="{2081C78B-5A65-4F91-A82A-765795823D48}">
      <dgm:prSet/>
      <dgm:spPr/>
      <dgm:t>
        <a:bodyPr/>
        <a:lstStyle/>
        <a:p>
          <a:endParaRPr kumimoji="1" lang="ja-JP" altLang="en-US"/>
        </a:p>
      </dgm:t>
    </dgm:pt>
    <dgm:pt modelId="{E22775CB-D83C-4E00-B053-88953BB43A75}" type="sibTrans" cxnId="{2081C78B-5A65-4F91-A82A-765795823D48}">
      <dgm:prSet/>
      <dgm:spPr/>
      <dgm:t>
        <a:bodyPr/>
        <a:lstStyle/>
        <a:p>
          <a:endParaRPr kumimoji="1" lang="ja-JP" altLang="en-US"/>
        </a:p>
      </dgm:t>
    </dgm:pt>
    <dgm:pt modelId="{CC340D2A-C41D-413E-A530-DB423BC564A5}">
      <dgm:prSet phldrT="[テキスト]"/>
      <dgm:spPr/>
      <dgm:t>
        <a:bodyPr/>
        <a:lstStyle/>
        <a:p>
          <a:r>
            <a:rPr kumimoji="1" lang="en-US" altLang="ja-JP" dirty="0"/>
            <a:t>4</a:t>
          </a:r>
          <a:r>
            <a:rPr kumimoji="1" lang="ja-JP" altLang="en-US" dirty="0"/>
            <a:t>日目</a:t>
          </a:r>
        </a:p>
      </dgm:t>
    </dgm:pt>
    <dgm:pt modelId="{EF07F9ED-5680-41C0-A2AD-467AF127BCB1}" type="parTrans" cxnId="{99FA6374-AF2E-4DCE-B74C-7BC7A0B8B7ED}">
      <dgm:prSet/>
      <dgm:spPr/>
      <dgm:t>
        <a:bodyPr/>
        <a:lstStyle/>
        <a:p>
          <a:endParaRPr kumimoji="1" lang="ja-JP" altLang="en-US"/>
        </a:p>
      </dgm:t>
    </dgm:pt>
    <dgm:pt modelId="{9DC76219-5C37-4504-A060-9AE32F3C2439}" type="sibTrans" cxnId="{99FA6374-AF2E-4DCE-B74C-7BC7A0B8B7ED}">
      <dgm:prSet/>
      <dgm:spPr/>
      <dgm:t>
        <a:bodyPr/>
        <a:lstStyle/>
        <a:p>
          <a:endParaRPr kumimoji="1" lang="ja-JP" altLang="en-US"/>
        </a:p>
      </dgm:t>
    </dgm:pt>
    <dgm:pt modelId="{27D85171-E862-454F-B240-E93533DC31A5}">
      <dgm:prSet phldrT="[テキスト]"/>
      <dgm:spPr>
        <a:solidFill>
          <a:srgbClr val="00B0F0"/>
        </a:solidFill>
      </dgm:spPr>
      <dgm:t>
        <a:bodyPr/>
        <a:lstStyle/>
        <a:p>
          <a:r>
            <a:rPr kumimoji="1" lang="en-US" altLang="ja-JP" dirty="0"/>
            <a:t>5</a:t>
          </a:r>
          <a:r>
            <a:rPr kumimoji="1" lang="ja-JP" altLang="en-US" dirty="0"/>
            <a:t>日目</a:t>
          </a:r>
        </a:p>
      </dgm:t>
    </dgm:pt>
    <dgm:pt modelId="{5E5537E9-7B42-4FAD-A626-7C1378945B2D}" type="parTrans" cxnId="{724D9740-1AA3-4558-80D9-171772CB903C}">
      <dgm:prSet/>
      <dgm:spPr/>
      <dgm:t>
        <a:bodyPr/>
        <a:lstStyle/>
        <a:p>
          <a:endParaRPr kumimoji="1" lang="ja-JP" altLang="en-US"/>
        </a:p>
      </dgm:t>
    </dgm:pt>
    <dgm:pt modelId="{98442BB1-11E6-43E4-9D03-D7393BA16F1C}" type="sibTrans" cxnId="{724D9740-1AA3-4558-80D9-171772CB903C}">
      <dgm:prSet/>
      <dgm:spPr/>
      <dgm:t>
        <a:bodyPr/>
        <a:lstStyle/>
        <a:p>
          <a:endParaRPr kumimoji="1" lang="ja-JP" altLang="en-US"/>
        </a:p>
      </dgm:t>
    </dgm:pt>
    <dgm:pt modelId="{3FB85C3C-18F0-48BE-BAEC-69742616ADEA}">
      <dgm:prSet phldrT="[テキスト]"/>
      <dgm:spPr/>
      <dgm:t>
        <a:bodyPr/>
        <a:lstStyle/>
        <a:p>
          <a:r>
            <a:rPr kumimoji="1" lang="en-US" altLang="ja-JP" dirty="0"/>
            <a:t>6</a:t>
          </a:r>
          <a:r>
            <a:rPr kumimoji="1" lang="ja-JP" altLang="en-US" dirty="0"/>
            <a:t>日目</a:t>
          </a:r>
          <a:r>
            <a:rPr kumimoji="1" lang="en-US" altLang="ja-JP" dirty="0"/>
            <a:t>-10</a:t>
          </a:r>
          <a:r>
            <a:rPr kumimoji="1" lang="ja-JP" altLang="en-US" dirty="0"/>
            <a:t>日目</a:t>
          </a:r>
        </a:p>
      </dgm:t>
    </dgm:pt>
    <dgm:pt modelId="{2989F9EA-B125-45B6-AEBD-07ADA21384A8}" type="parTrans" cxnId="{7C497E91-940B-4C67-AF7D-B0E55E1C821C}">
      <dgm:prSet/>
      <dgm:spPr/>
      <dgm:t>
        <a:bodyPr/>
        <a:lstStyle/>
        <a:p>
          <a:endParaRPr kumimoji="1" lang="ja-JP" altLang="en-US"/>
        </a:p>
      </dgm:t>
    </dgm:pt>
    <dgm:pt modelId="{7691F332-3729-47DA-852E-BFCBDAB77E4B}" type="sibTrans" cxnId="{7C497E91-940B-4C67-AF7D-B0E55E1C821C}">
      <dgm:prSet/>
      <dgm:spPr/>
      <dgm:t>
        <a:bodyPr/>
        <a:lstStyle/>
        <a:p>
          <a:endParaRPr kumimoji="1" lang="ja-JP" altLang="en-US"/>
        </a:p>
      </dgm:t>
    </dgm:pt>
    <dgm:pt modelId="{112101BD-5FE4-4CB5-AE55-B2C1258CB71A}" type="pres">
      <dgm:prSet presAssocID="{D359E708-BAA0-41A3-82AE-896B332B6746}" presName="Name0" presStyleCnt="0">
        <dgm:presLayoutVars>
          <dgm:dir/>
          <dgm:resizeHandles val="exact"/>
        </dgm:presLayoutVars>
      </dgm:prSet>
      <dgm:spPr/>
    </dgm:pt>
    <dgm:pt modelId="{6E003AD3-BD09-4D47-8727-7B7B33012578}" type="pres">
      <dgm:prSet presAssocID="{3F31FBFE-76F5-442D-B3CF-5DC8BC62135F}" presName="node" presStyleLbl="node1" presStyleIdx="0" presStyleCnt="7">
        <dgm:presLayoutVars>
          <dgm:bulletEnabled val="1"/>
        </dgm:presLayoutVars>
      </dgm:prSet>
      <dgm:spPr/>
    </dgm:pt>
    <dgm:pt modelId="{BEFF9F8C-E66D-43FB-AF68-F7B8D93457D4}" type="pres">
      <dgm:prSet presAssocID="{368D7230-B0BA-4904-8DD8-86B63A51F108}" presName="sibTrans" presStyleLbl="sibTrans2D1" presStyleIdx="0" presStyleCnt="6"/>
      <dgm:spPr/>
    </dgm:pt>
    <dgm:pt modelId="{99F9F085-1AD6-4331-B101-51BA167DCCBE}" type="pres">
      <dgm:prSet presAssocID="{368D7230-B0BA-4904-8DD8-86B63A51F108}" presName="connectorText" presStyleLbl="sibTrans2D1" presStyleIdx="0" presStyleCnt="6"/>
      <dgm:spPr/>
    </dgm:pt>
    <dgm:pt modelId="{127EDFB7-6034-4D3C-A90A-0BBA56C8BF08}" type="pres">
      <dgm:prSet presAssocID="{7CB8ECE6-4E45-438F-99C2-E5035A6F3F04}" presName="node" presStyleLbl="node1" presStyleIdx="1" presStyleCnt="7">
        <dgm:presLayoutVars>
          <dgm:bulletEnabled val="1"/>
        </dgm:presLayoutVars>
      </dgm:prSet>
      <dgm:spPr/>
    </dgm:pt>
    <dgm:pt modelId="{C2374E2B-B603-4D5A-8894-A1535531F2E6}" type="pres">
      <dgm:prSet presAssocID="{BB9FEE8A-285C-4FF5-9CFB-F6883073BF03}" presName="sibTrans" presStyleLbl="sibTrans2D1" presStyleIdx="1" presStyleCnt="6"/>
      <dgm:spPr/>
    </dgm:pt>
    <dgm:pt modelId="{7313F12C-CDD6-47EC-B74F-399D2FB44F78}" type="pres">
      <dgm:prSet presAssocID="{BB9FEE8A-285C-4FF5-9CFB-F6883073BF03}" presName="connectorText" presStyleLbl="sibTrans2D1" presStyleIdx="1" presStyleCnt="6"/>
      <dgm:spPr/>
    </dgm:pt>
    <dgm:pt modelId="{CA43E36F-405A-44EC-A2F3-82E527D926EF}" type="pres">
      <dgm:prSet presAssocID="{68083B7C-D851-40E6-A29E-94F887BD0C20}" presName="node" presStyleLbl="node1" presStyleIdx="2" presStyleCnt="7">
        <dgm:presLayoutVars>
          <dgm:bulletEnabled val="1"/>
        </dgm:presLayoutVars>
      </dgm:prSet>
      <dgm:spPr/>
    </dgm:pt>
    <dgm:pt modelId="{375277EB-D0C1-4E0D-8464-FDE5ADC343E2}" type="pres">
      <dgm:prSet presAssocID="{F708C3EC-126A-433F-B867-D4C6B26562BA}" presName="sibTrans" presStyleLbl="sibTrans2D1" presStyleIdx="2" presStyleCnt="6"/>
      <dgm:spPr/>
    </dgm:pt>
    <dgm:pt modelId="{8C18DE3E-459A-40E4-AD28-735D346BB06A}" type="pres">
      <dgm:prSet presAssocID="{F708C3EC-126A-433F-B867-D4C6B26562BA}" presName="connectorText" presStyleLbl="sibTrans2D1" presStyleIdx="2" presStyleCnt="6"/>
      <dgm:spPr/>
    </dgm:pt>
    <dgm:pt modelId="{E46691E6-97CA-49DF-BFDC-CA92A02F1D29}" type="pres">
      <dgm:prSet presAssocID="{524D9C2C-75D9-41D7-94C4-5FDE063CB8AD}" presName="node" presStyleLbl="node1" presStyleIdx="3" presStyleCnt="7">
        <dgm:presLayoutVars>
          <dgm:bulletEnabled val="1"/>
        </dgm:presLayoutVars>
      </dgm:prSet>
      <dgm:spPr/>
    </dgm:pt>
    <dgm:pt modelId="{91B08845-4624-482F-8609-E5FF3D8892CB}" type="pres">
      <dgm:prSet presAssocID="{E22775CB-D83C-4E00-B053-88953BB43A75}" presName="sibTrans" presStyleLbl="sibTrans2D1" presStyleIdx="3" presStyleCnt="6"/>
      <dgm:spPr/>
    </dgm:pt>
    <dgm:pt modelId="{859F56C8-E160-4528-A91D-6FC15129EBA3}" type="pres">
      <dgm:prSet presAssocID="{E22775CB-D83C-4E00-B053-88953BB43A75}" presName="connectorText" presStyleLbl="sibTrans2D1" presStyleIdx="3" presStyleCnt="6"/>
      <dgm:spPr/>
    </dgm:pt>
    <dgm:pt modelId="{EEBC73D2-5225-476E-ADED-572E49A929B1}" type="pres">
      <dgm:prSet presAssocID="{CC340D2A-C41D-413E-A530-DB423BC564A5}" presName="node" presStyleLbl="node1" presStyleIdx="4" presStyleCnt="7">
        <dgm:presLayoutVars>
          <dgm:bulletEnabled val="1"/>
        </dgm:presLayoutVars>
      </dgm:prSet>
      <dgm:spPr/>
    </dgm:pt>
    <dgm:pt modelId="{C2273DEA-0978-452B-A681-3A76B6AF643D}" type="pres">
      <dgm:prSet presAssocID="{9DC76219-5C37-4504-A060-9AE32F3C2439}" presName="sibTrans" presStyleLbl="sibTrans2D1" presStyleIdx="4" presStyleCnt="6"/>
      <dgm:spPr/>
    </dgm:pt>
    <dgm:pt modelId="{6E864969-B003-4168-9BF0-70C6CA716795}" type="pres">
      <dgm:prSet presAssocID="{9DC76219-5C37-4504-A060-9AE32F3C2439}" presName="connectorText" presStyleLbl="sibTrans2D1" presStyleIdx="4" presStyleCnt="6"/>
      <dgm:spPr/>
    </dgm:pt>
    <dgm:pt modelId="{AD594B9A-99F9-4935-9901-9BCD8C97E33F}" type="pres">
      <dgm:prSet presAssocID="{27D85171-E862-454F-B240-E93533DC31A5}" presName="node" presStyleLbl="node1" presStyleIdx="5" presStyleCnt="7">
        <dgm:presLayoutVars>
          <dgm:bulletEnabled val="1"/>
        </dgm:presLayoutVars>
      </dgm:prSet>
      <dgm:spPr/>
    </dgm:pt>
    <dgm:pt modelId="{D7A69B2D-3DFD-456D-8768-2F3186CA41FF}" type="pres">
      <dgm:prSet presAssocID="{98442BB1-11E6-43E4-9D03-D7393BA16F1C}" presName="sibTrans" presStyleLbl="sibTrans2D1" presStyleIdx="5" presStyleCnt="6"/>
      <dgm:spPr/>
    </dgm:pt>
    <dgm:pt modelId="{5062AEEA-8A88-47D4-B063-64911EB0E443}" type="pres">
      <dgm:prSet presAssocID="{98442BB1-11E6-43E4-9D03-D7393BA16F1C}" presName="connectorText" presStyleLbl="sibTrans2D1" presStyleIdx="5" presStyleCnt="6"/>
      <dgm:spPr/>
    </dgm:pt>
    <dgm:pt modelId="{2921F6AE-4192-4C23-9EFD-BEBD64655DBD}" type="pres">
      <dgm:prSet presAssocID="{3FB85C3C-18F0-48BE-BAEC-69742616ADEA}" presName="node" presStyleLbl="node1" presStyleIdx="6" presStyleCnt="7">
        <dgm:presLayoutVars>
          <dgm:bulletEnabled val="1"/>
        </dgm:presLayoutVars>
      </dgm:prSet>
      <dgm:spPr/>
    </dgm:pt>
  </dgm:ptLst>
  <dgm:cxnLst>
    <dgm:cxn modelId="{5AE7341F-EE75-4A2A-8562-032A601730C1}" type="presOf" srcId="{3F31FBFE-76F5-442D-B3CF-5DC8BC62135F}" destId="{6E003AD3-BD09-4D47-8727-7B7B33012578}" srcOrd="0" destOrd="0" presId="urn:microsoft.com/office/officeart/2005/8/layout/process1"/>
    <dgm:cxn modelId="{2DDDE62C-7C38-4DA6-ADF7-E420AC9E24A5}" type="presOf" srcId="{BB9FEE8A-285C-4FF5-9CFB-F6883073BF03}" destId="{7313F12C-CDD6-47EC-B74F-399D2FB44F78}" srcOrd="1" destOrd="0" presId="urn:microsoft.com/office/officeart/2005/8/layout/process1"/>
    <dgm:cxn modelId="{17065330-B168-4F8E-9963-60CB09EA2FCA}" type="presOf" srcId="{CC340D2A-C41D-413E-A530-DB423BC564A5}" destId="{EEBC73D2-5225-476E-ADED-572E49A929B1}" srcOrd="0" destOrd="0" presId="urn:microsoft.com/office/officeart/2005/8/layout/process1"/>
    <dgm:cxn modelId="{4364CD32-6835-42E3-842F-E896CA425B5E}" srcId="{D359E708-BAA0-41A3-82AE-896B332B6746}" destId="{68083B7C-D851-40E6-A29E-94F887BD0C20}" srcOrd="2" destOrd="0" parTransId="{F47DB015-AA62-48E8-98C1-256DAEF8F121}" sibTransId="{F708C3EC-126A-433F-B867-D4C6B26562BA}"/>
    <dgm:cxn modelId="{EA5ED037-7025-40C5-866B-77A4F206402E}" type="presOf" srcId="{368D7230-B0BA-4904-8DD8-86B63A51F108}" destId="{BEFF9F8C-E66D-43FB-AF68-F7B8D93457D4}" srcOrd="0" destOrd="0" presId="urn:microsoft.com/office/officeart/2005/8/layout/process1"/>
    <dgm:cxn modelId="{5302D83C-7DF3-423D-987E-28DEA257AAB3}" srcId="{D359E708-BAA0-41A3-82AE-896B332B6746}" destId="{3F31FBFE-76F5-442D-B3CF-5DC8BC62135F}" srcOrd="0" destOrd="0" parTransId="{1A3BE2CF-22D4-4D7A-910D-138904C02694}" sibTransId="{368D7230-B0BA-4904-8DD8-86B63A51F108}"/>
    <dgm:cxn modelId="{724D9740-1AA3-4558-80D9-171772CB903C}" srcId="{D359E708-BAA0-41A3-82AE-896B332B6746}" destId="{27D85171-E862-454F-B240-E93533DC31A5}" srcOrd="5" destOrd="0" parTransId="{5E5537E9-7B42-4FAD-A626-7C1378945B2D}" sibTransId="{98442BB1-11E6-43E4-9D03-D7393BA16F1C}"/>
    <dgm:cxn modelId="{716BF140-31C8-4B15-B0D1-FD0FA0F6F4E5}" type="presOf" srcId="{98442BB1-11E6-43E4-9D03-D7393BA16F1C}" destId="{5062AEEA-8A88-47D4-B063-64911EB0E443}" srcOrd="1" destOrd="0" presId="urn:microsoft.com/office/officeart/2005/8/layout/process1"/>
    <dgm:cxn modelId="{19D30542-CF79-46F9-8EA0-201D013229AC}" type="presOf" srcId="{27D85171-E862-454F-B240-E93533DC31A5}" destId="{AD594B9A-99F9-4935-9901-9BCD8C97E33F}" srcOrd="0" destOrd="0" presId="urn:microsoft.com/office/officeart/2005/8/layout/process1"/>
    <dgm:cxn modelId="{D76C1E69-7EFE-4FD2-BE9E-CF8BD5A5FF3C}" type="presOf" srcId="{68083B7C-D851-40E6-A29E-94F887BD0C20}" destId="{CA43E36F-405A-44EC-A2F3-82E527D926EF}" srcOrd="0" destOrd="0" presId="urn:microsoft.com/office/officeart/2005/8/layout/process1"/>
    <dgm:cxn modelId="{AF169A6A-F677-482A-A36D-5AAEB450C6D4}" type="presOf" srcId="{D359E708-BAA0-41A3-82AE-896B332B6746}" destId="{112101BD-5FE4-4CB5-AE55-B2C1258CB71A}" srcOrd="0" destOrd="0" presId="urn:microsoft.com/office/officeart/2005/8/layout/process1"/>
    <dgm:cxn modelId="{5590434C-5914-4F3B-AB5D-4367FA818B74}" type="presOf" srcId="{F708C3EC-126A-433F-B867-D4C6B26562BA}" destId="{8C18DE3E-459A-40E4-AD28-735D346BB06A}" srcOrd="1" destOrd="0" presId="urn:microsoft.com/office/officeart/2005/8/layout/process1"/>
    <dgm:cxn modelId="{177ED253-709F-4D0D-A4DB-577551F74F3B}" type="presOf" srcId="{3FB85C3C-18F0-48BE-BAEC-69742616ADEA}" destId="{2921F6AE-4192-4C23-9EFD-BEBD64655DBD}" srcOrd="0" destOrd="0" presId="urn:microsoft.com/office/officeart/2005/8/layout/process1"/>
    <dgm:cxn modelId="{99FA6374-AF2E-4DCE-B74C-7BC7A0B8B7ED}" srcId="{D359E708-BAA0-41A3-82AE-896B332B6746}" destId="{CC340D2A-C41D-413E-A530-DB423BC564A5}" srcOrd="4" destOrd="0" parTransId="{EF07F9ED-5680-41C0-A2AD-467AF127BCB1}" sibTransId="{9DC76219-5C37-4504-A060-9AE32F3C2439}"/>
    <dgm:cxn modelId="{66549478-68E1-42EB-8A4B-ADBBBA5FC97E}" type="presOf" srcId="{F708C3EC-126A-433F-B867-D4C6B26562BA}" destId="{375277EB-D0C1-4E0D-8464-FDE5ADC343E2}" srcOrd="0" destOrd="0" presId="urn:microsoft.com/office/officeart/2005/8/layout/process1"/>
    <dgm:cxn modelId="{184D0079-6263-4DFA-BE7D-8977C8A24469}" type="presOf" srcId="{9DC76219-5C37-4504-A060-9AE32F3C2439}" destId="{C2273DEA-0978-452B-A681-3A76B6AF643D}" srcOrd="0" destOrd="0" presId="urn:microsoft.com/office/officeart/2005/8/layout/process1"/>
    <dgm:cxn modelId="{4A658586-B535-4DD5-9A4D-65214F3B04FC}" type="presOf" srcId="{368D7230-B0BA-4904-8DD8-86B63A51F108}" destId="{99F9F085-1AD6-4331-B101-51BA167DCCBE}" srcOrd="1" destOrd="0" presId="urn:microsoft.com/office/officeart/2005/8/layout/process1"/>
    <dgm:cxn modelId="{2081C78B-5A65-4F91-A82A-765795823D48}" srcId="{D359E708-BAA0-41A3-82AE-896B332B6746}" destId="{524D9C2C-75D9-41D7-94C4-5FDE063CB8AD}" srcOrd="3" destOrd="0" parTransId="{E7F9E903-4693-4A0E-8260-5D252BCAA78E}" sibTransId="{E22775CB-D83C-4E00-B053-88953BB43A75}"/>
    <dgm:cxn modelId="{A623BF8F-8B2C-437E-A8C8-89148CEAFAE4}" type="presOf" srcId="{7CB8ECE6-4E45-438F-99C2-E5035A6F3F04}" destId="{127EDFB7-6034-4D3C-A90A-0BBA56C8BF08}" srcOrd="0" destOrd="0" presId="urn:microsoft.com/office/officeart/2005/8/layout/process1"/>
    <dgm:cxn modelId="{7C497E91-940B-4C67-AF7D-B0E55E1C821C}" srcId="{D359E708-BAA0-41A3-82AE-896B332B6746}" destId="{3FB85C3C-18F0-48BE-BAEC-69742616ADEA}" srcOrd="6" destOrd="0" parTransId="{2989F9EA-B125-45B6-AEBD-07ADA21384A8}" sibTransId="{7691F332-3729-47DA-852E-BFCBDAB77E4B}"/>
    <dgm:cxn modelId="{027290BA-CBCA-4724-BC6A-EF7F2ADE1FB2}" srcId="{D359E708-BAA0-41A3-82AE-896B332B6746}" destId="{7CB8ECE6-4E45-438F-99C2-E5035A6F3F04}" srcOrd="1" destOrd="0" parTransId="{E481BF81-47AE-40A8-AD1E-84B91BADE575}" sibTransId="{BB9FEE8A-285C-4FF5-9CFB-F6883073BF03}"/>
    <dgm:cxn modelId="{B01FF0D4-2F04-4B61-BE9F-EE9AFE5414E5}" type="presOf" srcId="{9DC76219-5C37-4504-A060-9AE32F3C2439}" destId="{6E864969-B003-4168-9BF0-70C6CA716795}" srcOrd="1" destOrd="0" presId="urn:microsoft.com/office/officeart/2005/8/layout/process1"/>
    <dgm:cxn modelId="{61423ADB-C17F-4787-8A62-E5E99C3307B0}" type="presOf" srcId="{524D9C2C-75D9-41D7-94C4-5FDE063CB8AD}" destId="{E46691E6-97CA-49DF-BFDC-CA92A02F1D29}" srcOrd="0" destOrd="0" presId="urn:microsoft.com/office/officeart/2005/8/layout/process1"/>
    <dgm:cxn modelId="{F755D7E3-D639-42A6-8531-D9476C129554}" type="presOf" srcId="{BB9FEE8A-285C-4FF5-9CFB-F6883073BF03}" destId="{C2374E2B-B603-4D5A-8894-A1535531F2E6}" srcOrd="0" destOrd="0" presId="urn:microsoft.com/office/officeart/2005/8/layout/process1"/>
    <dgm:cxn modelId="{701BD8EE-DB0D-48C2-9F79-D9369305B328}" type="presOf" srcId="{98442BB1-11E6-43E4-9D03-D7393BA16F1C}" destId="{D7A69B2D-3DFD-456D-8768-2F3186CA41FF}" srcOrd="0" destOrd="0" presId="urn:microsoft.com/office/officeart/2005/8/layout/process1"/>
    <dgm:cxn modelId="{90475FF7-1E2C-4999-8F00-2BB79FBFBA10}" type="presOf" srcId="{E22775CB-D83C-4E00-B053-88953BB43A75}" destId="{859F56C8-E160-4528-A91D-6FC15129EBA3}" srcOrd="1" destOrd="0" presId="urn:microsoft.com/office/officeart/2005/8/layout/process1"/>
    <dgm:cxn modelId="{926C35FD-4B0D-4543-8FDC-15941BE2D34D}" type="presOf" srcId="{E22775CB-D83C-4E00-B053-88953BB43A75}" destId="{91B08845-4624-482F-8609-E5FF3D8892CB}" srcOrd="0" destOrd="0" presId="urn:microsoft.com/office/officeart/2005/8/layout/process1"/>
    <dgm:cxn modelId="{66A97BA3-7B53-4F3A-8118-DD4C8BB57B53}" type="presParOf" srcId="{112101BD-5FE4-4CB5-AE55-B2C1258CB71A}" destId="{6E003AD3-BD09-4D47-8727-7B7B33012578}" srcOrd="0" destOrd="0" presId="urn:microsoft.com/office/officeart/2005/8/layout/process1"/>
    <dgm:cxn modelId="{0F101FFF-ED94-4D4C-9585-319B7D4A0AA3}" type="presParOf" srcId="{112101BD-5FE4-4CB5-AE55-B2C1258CB71A}" destId="{BEFF9F8C-E66D-43FB-AF68-F7B8D93457D4}" srcOrd="1" destOrd="0" presId="urn:microsoft.com/office/officeart/2005/8/layout/process1"/>
    <dgm:cxn modelId="{D821A9F8-521B-4C3C-8A93-8746D4D906A7}" type="presParOf" srcId="{BEFF9F8C-E66D-43FB-AF68-F7B8D93457D4}" destId="{99F9F085-1AD6-4331-B101-51BA167DCCBE}" srcOrd="0" destOrd="0" presId="urn:microsoft.com/office/officeart/2005/8/layout/process1"/>
    <dgm:cxn modelId="{B1650539-5786-407E-90A6-7F837A0EF7AE}" type="presParOf" srcId="{112101BD-5FE4-4CB5-AE55-B2C1258CB71A}" destId="{127EDFB7-6034-4D3C-A90A-0BBA56C8BF08}" srcOrd="2" destOrd="0" presId="urn:microsoft.com/office/officeart/2005/8/layout/process1"/>
    <dgm:cxn modelId="{7A0FFE7F-0578-4DF8-BF59-E6E3702FD576}" type="presParOf" srcId="{112101BD-5FE4-4CB5-AE55-B2C1258CB71A}" destId="{C2374E2B-B603-4D5A-8894-A1535531F2E6}" srcOrd="3" destOrd="0" presId="urn:microsoft.com/office/officeart/2005/8/layout/process1"/>
    <dgm:cxn modelId="{22CC0958-1A1E-4856-A6D0-B597FB1A96D1}" type="presParOf" srcId="{C2374E2B-B603-4D5A-8894-A1535531F2E6}" destId="{7313F12C-CDD6-47EC-B74F-399D2FB44F78}" srcOrd="0" destOrd="0" presId="urn:microsoft.com/office/officeart/2005/8/layout/process1"/>
    <dgm:cxn modelId="{78E8273F-A436-40A6-9934-8FBE63629A15}" type="presParOf" srcId="{112101BD-5FE4-4CB5-AE55-B2C1258CB71A}" destId="{CA43E36F-405A-44EC-A2F3-82E527D926EF}" srcOrd="4" destOrd="0" presId="urn:microsoft.com/office/officeart/2005/8/layout/process1"/>
    <dgm:cxn modelId="{67211B47-D182-4D27-B6DA-A964C4154186}" type="presParOf" srcId="{112101BD-5FE4-4CB5-AE55-B2C1258CB71A}" destId="{375277EB-D0C1-4E0D-8464-FDE5ADC343E2}" srcOrd="5" destOrd="0" presId="urn:microsoft.com/office/officeart/2005/8/layout/process1"/>
    <dgm:cxn modelId="{9F431BDF-E47C-4D04-827D-959C0CCF01D7}" type="presParOf" srcId="{375277EB-D0C1-4E0D-8464-FDE5ADC343E2}" destId="{8C18DE3E-459A-40E4-AD28-735D346BB06A}" srcOrd="0" destOrd="0" presId="urn:microsoft.com/office/officeart/2005/8/layout/process1"/>
    <dgm:cxn modelId="{7B3EF9A7-9FA2-4CA0-8B27-E913DCAB5146}" type="presParOf" srcId="{112101BD-5FE4-4CB5-AE55-B2C1258CB71A}" destId="{E46691E6-97CA-49DF-BFDC-CA92A02F1D29}" srcOrd="6" destOrd="0" presId="urn:microsoft.com/office/officeart/2005/8/layout/process1"/>
    <dgm:cxn modelId="{7937E15E-45DB-4EC4-A55B-138F8CA8CF41}" type="presParOf" srcId="{112101BD-5FE4-4CB5-AE55-B2C1258CB71A}" destId="{91B08845-4624-482F-8609-E5FF3D8892CB}" srcOrd="7" destOrd="0" presId="urn:microsoft.com/office/officeart/2005/8/layout/process1"/>
    <dgm:cxn modelId="{C185B951-EC34-46B7-9223-7137BD9FAA87}" type="presParOf" srcId="{91B08845-4624-482F-8609-E5FF3D8892CB}" destId="{859F56C8-E160-4528-A91D-6FC15129EBA3}" srcOrd="0" destOrd="0" presId="urn:microsoft.com/office/officeart/2005/8/layout/process1"/>
    <dgm:cxn modelId="{F6E469A9-7EC6-4C43-BBB0-C3FC5AA4D576}" type="presParOf" srcId="{112101BD-5FE4-4CB5-AE55-B2C1258CB71A}" destId="{EEBC73D2-5225-476E-ADED-572E49A929B1}" srcOrd="8" destOrd="0" presId="urn:microsoft.com/office/officeart/2005/8/layout/process1"/>
    <dgm:cxn modelId="{1FED13A6-FAB7-4DA1-A481-42D319D81ABC}" type="presParOf" srcId="{112101BD-5FE4-4CB5-AE55-B2C1258CB71A}" destId="{C2273DEA-0978-452B-A681-3A76B6AF643D}" srcOrd="9" destOrd="0" presId="urn:microsoft.com/office/officeart/2005/8/layout/process1"/>
    <dgm:cxn modelId="{18D16049-7189-4118-8FDE-BF43B7D10B05}" type="presParOf" srcId="{C2273DEA-0978-452B-A681-3A76B6AF643D}" destId="{6E864969-B003-4168-9BF0-70C6CA716795}" srcOrd="0" destOrd="0" presId="urn:microsoft.com/office/officeart/2005/8/layout/process1"/>
    <dgm:cxn modelId="{839A07E7-101B-4ABF-9546-97214A454FC7}" type="presParOf" srcId="{112101BD-5FE4-4CB5-AE55-B2C1258CB71A}" destId="{AD594B9A-99F9-4935-9901-9BCD8C97E33F}" srcOrd="10" destOrd="0" presId="urn:microsoft.com/office/officeart/2005/8/layout/process1"/>
    <dgm:cxn modelId="{0805EC11-F9AE-453F-A68C-11060350ED00}" type="presParOf" srcId="{112101BD-5FE4-4CB5-AE55-B2C1258CB71A}" destId="{D7A69B2D-3DFD-456D-8768-2F3186CA41FF}" srcOrd="11" destOrd="0" presId="urn:microsoft.com/office/officeart/2005/8/layout/process1"/>
    <dgm:cxn modelId="{3AF38098-117C-48FD-B90A-65F661F4FA6C}" type="presParOf" srcId="{D7A69B2D-3DFD-456D-8768-2F3186CA41FF}" destId="{5062AEEA-8A88-47D4-B063-64911EB0E443}" srcOrd="0" destOrd="0" presId="urn:microsoft.com/office/officeart/2005/8/layout/process1"/>
    <dgm:cxn modelId="{28CB6BA7-3C69-487E-B929-E451892B1659}" type="presParOf" srcId="{112101BD-5FE4-4CB5-AE55-B2C1258CB71A}" destId="{2921F6AE-4192-4C23-9EFD-BEBD64655DBD}" srcOrd="1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003AD3-BD09-4D47-8727-7B7B33012578}">
      <dsp:nvSpPr>
        <dsp:cNvPr id="0" name=""/>
        <dsp:cNvSpPr/>
      </dsp:nvSpPr>
      <dsp:spPr>
        <a:xfrm>
          <a:off x="3423" y="2320393"/>
          <a:ext cx="1296465" cy="777879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 dirty="0"/>
            <a:t>シークレットグループ</a:t>
          </a:r>
        </a:p>
      </dsp:txBody>
      <dsp:txXfrm>
        <a:off x="26206" y="2343176"/>
        <a:ext cx="1250899" cy="732313"/>
      </dsp:txXfrm>
    </dsp:sp>
    <dsp:sp modelId="{BEFF9F8C-E66D-43FB-AF68-F7B8D93457D4}">
      <dsp:nvSpPr>
        <dsp:cNvPr id="0" name=""/>
        <dsp:cNvSpPr/>
      </dsp:nvSpPr>
      <dsp:spPr>
        <a:xfrm>
          <a:off x="1429535" y="2548571"/>
          <a:ext cx="274850" cy="3215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300" kern="1200"/>
        </a:p>
      </dsp:txBody>
      <dsp:txXfrm>
        <a:off x="1429535" y="2612876"/>
        <a:ext cx="192395" cy="192913"/>
      </dsp:txXfrm>
    </dsp:sp>
    <dsp:sp modelId="{127EDFB7-6034-4D3C-A90A-0BBA56C8BF08}">
      <dsp:nvSpPr>
        <dsp:cNvPr id="0" name=""/>
        <dsp:cNvSpPr/>
      </dsp:nvSpPr>
      <dsp:spPr>
        <a:xfrm>
          <a:off x="1818475" y="2320393"/>
          <a:ext cx="1296465" cy="7778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900" kern="1200" dirty="0"/>
            <a:t>1</a:t>
          </a:r>
          <a:r>
            <a:rPr kumimoji="1" lang="ja-JP" altLang="en-US" sz="1900" kern="1200" dirty="0"/>
            <a:t>日目</a:t>
          </a:r>
        </a:p>
      </dsp:txBody>
      <dsp:txXfrm>
        <a:off x="1841258" y="2343176"/>
        <a:ext cx="1250899" cy="732313"/>
      </dsp:txXfrm>
    </dsp:sp>
    <dsp:sp modelId="{C2374E2B-B603-4D5A-8894-A1535531F2E6}">
      <dsp:nvSpPr>
        <dsp:cNvPr id="0" name=""/>
        <dsp:cNvSpPr/>
      </dsp:nvSpPr>
      <dsp:spPr>
        <a:xfrm>
          <a:off x="3244587" y="2548571"/>
          <a:ext cx="274850" cy="3215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300" kern="1200"/>
        </a:p>
      </dsp:txBody>
      <dsp:txXfrm>
        <a:off x="3244587" y="2612876"/>
        <a:ext cx="192395" cy="192913"/>
      </dsp:txXfrm>
    </dsp:sp>
    <dsp:sp modelId="{CA43E36F-405A-44EC-A2F3-82E527D926EF}">
      <dsp:nvSpPr>
        <dsp:cNvPr id="0" name=""/>
        <dsp:cNvSpPr/>
      </dsp:nvSpPr>
      <dsp:spPr>
        <a:xfrm>
          <a:off x="3633527" y="2320393"/>
          <a:ext cx="1296465" cy="7778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900" kern="1200" dirty="0"/>
            <a:t>2</a:t>
          </a:r>
          <a:r>
            <a:rPr kumimoji="1" lang="ja-JP" altLang="en-US" sz="1900" kern="1200" dirty="0"/>
            <a:t>日目</a:t>
          </a:r>
        </a:p>
      </dsp:txBody>
      <dsp:txXfrm>
        <a:off x="3656310" y="2343176"/>
        <a:ext cx="1250899" cy="732313"/>
      </dsp:txXfrm>
    </dsp:sp>
    <dsp:sp modelId="{375277EB-D0C1-4E0D-8464-FDE5ADC343E2}">
      <dsp:nvSpPr>
        <dsp:cNvPr id="0" name=""/>
        <dsp:cNvSpPr/>
      </dsp:nvSpPr>
      <dsp:spPr>
        <a:xfrm>
          <a:off x="5059639" y="2548571"/>
          <a:ext cx="274850" cy="3215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300" kern="1200"/>
        </a:p>
      </dsp:txBody>
      <dsp:txXfrm>
        <a:off x="5059639" y="2612876"/>
        <a:ext cx="192395" cy="192913"/>
      </dsp:txXfrm>
    </dsp:sp>
    <dsp:sp modelId="{E46691E6-97CA-49DF-BFDC-CA92A02F1D29}">
      <dsp:nvSpPr>
        <dsp:cNvPr id="0" name=""/>
        <dsp:cNvSpPr/>
      </dsp:nvSpPr>
      <dsp:spPr>
        <a:xfrm>
          <a:off x="5448579" y="2320393"/>
          <a:ext cx="1296465" cy="7778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900" kern="1200" dirty="0"/>
            <a:t>3</a:t>
          </a:r>
          <a:r>
            <a:rPr kumimoji="1" lang="ja-JP" altLang="en-US" sz="1900" kern="1200" dirty="0"/>
            <a:t>日目</a:t>
          </a:r>
        </a:p>
      </dsp:txBody>
      <dsp:txXfrm>
        <a:off x="5471362" y="2343176"/>
        <a:ext cx="1250899" cy="732313"/>
      </dsp:txXfrm>
    </dsp:sp>
    <dsp:sp modelId="{91B08845-4624-482F-8609-E5FF3D8892CB}">
      <dsp:nvSpPr>
        <dsp:cNvPr id="0" name=""/>
        <dsp:cNvSpPr/>
      </dsp:nvSpPr>
      <dsp:spPr>
        <a:xfrm>
          <a:off x="6874691" y="2548571"/>
          <a:ext cx="274850" cy="3215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300" kern="1200"/>
        </a:p>
      </dsp:txBody>
      <dsp:txXfrm>
        <a:off x="6874691" y="2612876"/>
        <a:ext cx="192395" cy="192913"/>
      </dsp:txXfrm>
    </dsp:sp>
    <dsp:sp modelId="{EEBC73D2-5225-476E-ADED-572E49A929B1}">
      <dsp:nvSpPr>
        <dsp:cNvPr id="0" name=""/>
        <dsp:cNvSpPr/>
      </dsp:nvSpPr>
      <dsp:spPr>
        <a:xfrm>
          <a:off x="7263631" y="2320393"/>
          <a:ext cx="1296465" cy="7778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900" kern="1200" dirty="0"/>
            <a:t>4</a:t>
          </a:r>
          <a:r>
            <a:rPr kumimoji="1" lang="ja-JP" altLang="en-US" sz="1900" kern="1200" dirty="0"/>
            <a:t>日目</a:t>
          </a:r>
        </a:p>
      </dsp:txBody>
      <dsp:txXfrm>
        <a:off x="7286414" y="2343176"/>
        <a:ext cx="1250899" cy="732313"/>
      </dsp:txXfrm>
    </dsp:sp>
    <dsp:sp modelId="{C2273DEA-0978-452B-A681-3A76B6AF643D}">
      <dsp:nvSpPr>
        <dsp:cNvPr id="0" name=""/>
        <dsp:cNvSpPr/>
      </dsp:nvSpPr>
      <dsp:spPr>
        <a:xfrm>
          <a:off x="8689743" y="2548571"/>
          <a:ext cx="274850" cy="3215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300" kern="1200"/>
        </a:p>
      </dsp:txBody>
      <dsp:txXfrm>
        <a:off x="8689743" y="2612876"/>
        <a:ext cx="192395" cy="192913"/>
      </dsp:txXfrm>
    </dsp:sp>
    <dsp:sp modelId="{AD594B9A-99F9-4935-9901-9BCD8C97E33F}">
      <dsp:nvSpPr>
        <dsp:cNvPr id="0" name=""/>
        <dsp:cNvSpPr/>
      </dsp:nvSpPr>
      <dsp:spPr>
        <a:xfrm>
          <a:off x="9078683" y="2320393"/>
          <a:ext cx="1296465" cy="777879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900" kern="1200" dirty="0"/>
            <a:t>5</a:t>
          </a:r>
          <a:r>
            <a:rPr kumimoji="1" lang="ja-JP" altLang="en-US" sz="1900" kern="1200" dirty="0"/>
            <a:t>日目</a:t>
          </a:r>
        </a:p>
      </dsp:txBody>
      <dsp:txXfrm>
        <a:off x="9101466" y="2343176"/>
        <a:ext cx="1250899" cy="732313"/>
      </dsp:txXfrm>
    </dsp:sp>
    <dsp:sp modelId="{D7A69B2D-3DFD-456D-8768-2F3186CA41FF}">
      <dsp:nvSpPr>
        <dsp:cNvPr id="0" name=""/>
        <dsp:cNvSpPr/>
      </dsp:nvSpPr>
      <dsp:spPr>
        <a:xfrm>
          <a:off x="10504796" y="2548571"/>
          <a:ext cx="274850" cy="3215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300" kern="1200"/>
        </a:p>
      </dsp:txBody>
      <dsp:txXfrm>
        <a:off x="10504796" y="2612876"/>
        <a:ext cx="192395" cy="192913"/>
      </dsp:txXfrm>
    </dsp:sp>
    <dsp:sp modelId="{2921F6AE-4192-4C23-9EFD-BEBD64655DBD}">
      <dsp:nvSpPr>
        <dsp:cNvPr id="0" name=""/>
        <dsp:cNvSpPr/>
      </dsp:nvSpPr>
      <dsp:spPr>
        <a:xfrm>
          <a:off x="10893735" y="2320393"/>
          <a:ext cx="1296465" cy="7778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900" kern="1200" dirty="0"/>
            <a:t>6</a:t>
          </a:r>
          <a:r>
            <a:rPr kumimoji="1" lang="ja-JP" altLang="en-US" sz="1900" kern="1200" dirty="0"/>
            <a:t>日目</a:t>
          </a:r>
          <a:r>
            <a:rPr kumimoji="1" lang="en-US" altLang="ja-JP" sz="1900" kern="1200" dirty="0"/>
            <a:t>-10</a:t>
          </a:r>
          <a:r>
            <a:rPr kumimoji="1" lang="ja-JP" altLang="en-US" sz="1900" kern="1200" dirty="0"/>
            <a:t>日目</a:t>
          </a:r>
        </a:p>
      </dsp:txBody>
      <dsp:txXfrm>
        <a:off x="10916518" y="2343176"/>
        <a:ext cx="1250899" cy="7323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51F935-42ED-4BF1-A967-C4E42A5A2E89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51A3CD-C027-4220-9620-175EC9151A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0293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398185-B8DA-43B1-870D-0C62373980C3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11F2C5-357C-43DD-9F25-2567498404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9162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1F2C5-357C-43DD-9F25-256749840425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0002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:notes"/>
          <p:cNvSpPr txBox="1">
            <a:spLocks noGrp="1"/>
          </p:cNvSpPr>
          <p:nvPr>
            <p:ph type="body" idx="1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5210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:notes"/>
          <p:cNvSpPr txBox="1">
            <a:spLocks noGrp="1"/>
          </p:cNvSpPr>
          <p:nvPr>
            <p:ph type="body" idx="1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94061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:notes"/>
          <p:cNvSpPr txBox="1">
            <a:spLocks noGrp="1"/>
          </p:cNvSpPr>
          <p:nvPr>
            <p:ph type="body" idx="1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3738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1F2C5-357C-43DD-9F25-256749840425}" type="slidenum">
              <a:rPr kumimoji="1" lang="ja-JP" altLang="en-US" smtClean="0"/>
              <a:t>30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53879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1F2C5-357C-43DD-9F25-256749840425}" type="slidenum">
              <a:rPr kumimoji="1" lang="ja-JP" altLang="en-US" smtClean="0"/>
              <a:t>39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58851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1F2C5-357C-43DD-9F25-256749840425}" type="slidenum">
              <a:rPr kumimoji="1" lang="ja-JP" altLang="en-US" smtClean="0"/>
              <a:t>58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67929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1F2C5-357C-43DD-9F25-256749840425}" type="slidenum">
              <a:rPr kumimoji="1" lang="ja-JP" altLang="en-US" smtClean="0"/>
              <a:t>91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3035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2023780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907362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622888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4155895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24138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04017-7358-4C8F-8979-D5B36DF924EB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3D458-87C9-4AE3-86E0-AE30620524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0806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04017-7358-4C8F-8979-D5B36DF924EB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3D458-87C9-4AE3-86E0-AE30620524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0501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04017-7358-4C8F-8979-D5B36DF924EB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3D458-87C9-4AE3-86E0-AE30620524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8280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04017-7358-4C8F-8979-D5B36DF924EB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3D458-87C9-4AE3-86E0-AE30620524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1258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04017-7358-4C8F-8979-D5B36DF924EB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3D458-87C9-4AE3-86E0-AE30620524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2368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04017-7358-4C8F-8979-D5B36DF924EB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3D458-87C9-4AE3-86E0-AE30620524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2451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04017-7358-4C8F-8979-D5B36DF924EB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3D458-87C9-4AE3-86E0-AE30620524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2298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04017-7358-4C8F-8979-D5B36DF924EB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3D458-87C9-4AE3-86E0-AE30620524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1481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04017-7358-4C8F-8979-D5B36DF924EB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3D458-87C9-4AE3-86E0-AE30620524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160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04017-7358-4C8F-8979-D5B36DF924EB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3D458-87C9-4AE3-86E0-AE30620524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782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04017-7358-4C8F-8979-D5B36DF924EB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3D458-87C9-4AE3-86E0-AE30620524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3780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 コピー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6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375" b="1">
                <a:latin typeface="HG丸ｺﾞｼｯｸM-PRO" panose="020F0600000000000000" pitchFamily="50" charset="-128"/>
                <a:ea typeface="HG丸ｺﾞｼｯｸM-PRO" panose="020F0600000000000000" pitchFamily="50" charset="-128"/>
                <a:cs typeface="+mn-cs"/>
                <a:sym typeface="Gill Sans"/>
              </a:defRPr>
            </a:lvl1pPr>
          </a:lstStyle>
          <a:p>
            <a:r>
              <a:rPr dirty="0" err="1"/>
              <a:t>タイトルテキスト</a:t>
            </a:r>
            <a:endParaRPr dirty="0"/>
          </a:p>
        </p:txBody>
      </p:sp>
      <p:sp>
        <p:nvSpPr>
          <p:cNvPr id="262" name="Shape 26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241937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004017-7358-4C8F-8979-D5B36DF924EB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E3D458-87C9-4AE3-86E0-AE30620524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2060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b="1" kern="1200">
          <a:solidFill>
            <a:schemeClr val="tx1"/>
          </a:solidFill>
          <a:latin typeface="HG丸ｺﾞｼｯｸM-PRO" panose="020F0600000000000000" pitchFamily="50" charset="-128"/>
          <a:ea typeface="HG丸ｺﾞｼｯｸM-PRO" panose="020F0600000000000000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b="1" kern="1200">
          <a:solidFill>
            <a:schemeClr val="tx1"/>
          </a:solidFill>
          <a:latin typeface="HG丸ｺﾞｼｯｸM-PRO" panose="020F0600000000000000" pitchFamily="50" charset="-128"/>
          <a:ea typeface="HG丸ｺﾞｼｯｸM-PRO" panose="020F0600000000000000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b="1" kern="1200">
          <a:solidFill>
            <a:schemeClr val="tx1"/>
          </a:solidFill>
          <a:latin typeface="HG丸ｺﾞｼｯｸM-PRO" panose="020F0600000000000000" pitchFamily="50" charset="-128"/>
          <a:ea typeface="HG丸ｺﾞｼｯｸM-PRO" panose="020F0600000000000000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b="1" kern="1200">
          <a:solidFill>
            <a:schemeClr val="tx1"/>
          </a:solidFill>
          <a:latin typeface="HG丸ｺﾞｼｯｸM-PRO" panose="020F0600000000000000" pitchFamily="50" charset="-128"/>
          <a:ea typeface="HG丸ｺﾞｼｯｸM-PRO" panose="020F0600000000000000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b="1" kern="1200">
          <a:solidFill>
            <a:schemeClr val="tx1"/>
          </a:solidFill>
          <a:latin typeface="HG丸ｺﾞｼｯｸM-PRO" panose="020F0600000000000000" pitchFamily="50" charset="-128"/>
          <a:ea typeface="HG丸ｺﾞｼｯｸM-PRO" panose="020F0600000000000000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b="1" kern="1200">
          <a:solidFill>
            <a:schemeClr val="tx1"/>
          </a:solidFill>
          <a:latin typeface="HG丸ｺﾞｼｯｸM-PRO" panose="020F0600000000000000" pitchFamily="50" charset="-128"/>
          <a:ea typeface="HG丸ｺﾞｼｯｸM-PRO" panose="020F0600000000000000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70"/>
            <a:ext cx="12192000" cy="685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784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1703505" y="331314"/>
            <a:ext cx="8797600" cy="618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6600" dirty="0">
                <a:latin typeface="+mn-ea"/>
              </a:rPr>
              <a:t>1. </a:t>
            </a:r>
            <a:r>
              <a:rPr lang="ja-JP" altLang="en-US" sz="6600" dirty="0">
                <a:latin typeface="+mn-ea"/>
              </a:rPr>
              <a:t>携帯電話は</a:t>
            </a:r>
            <a:endParaRPr lang="en-US" altLang="ja-JP" sz="6600" dirty="0">
              <a:latin typeface="+mn-ea"/>
            </a:endParaRPr>
          </a:p>
          <a:p>
            <a:pPr algn="ctr"/>
            <a:r>
              <a:rPr lang="ja-JP" altLang="en-US" sz="6600" dirty="0">
                <a:latin typeface="+mn-ea"/>
              </a:rPr>
              <a:t>電源</a:t>
            </a:r>
            <a:r>
              <a:rPr lang="en-US" altLang="ja-JP" sz="6600" dirty="0">
                <a:latin typeface="+mn-ea"/>
              </a:rPr>
              <a:t>OFF</a:t>
            </a:r>
            <a:r>
              <a:rPr lang="ja-JP" altLang="en-US" sz="6600" dirty="0">
                <a:latin typeface="+mn-ea"/>
              </a:rPr>
              <a:t>かマナーモード</a:t>
            </a:r>
            <a:endParaRPr lang="en-US" altLang="ja-JP" sz="6600" dirty="0">
              <a:latin typeface="+mn-ea"/>
            </a:endParaRPr>
          </a:p>
          <a:p>
            <a:pPr algn="ctr"/>
            <a:r>
              <a:rPr kumimoji="1" lang="en-US" altLang="ja-JP" sz="6600" dirty="0">
                <a:latin typeface="+mn-ea"/>
              </a:rPr>
              <a:t>2. </a:t>
            </a:r>
            <a:r>
              <a:rPr kumimoji="1" lang="ja-JP" altLang="en-US" sz="6600" dirty="0">
                <a:latin typeface="+mn-ea"/>
              </a:rPr>
              <a:t>写真撮影・録画は</a:t>
            </a:r>
            <a:br>
              <a:rPr kumimoji="1" lang="en-US" altLang="ja-JP" sz="6600" dirty="0">
                <a:latin typeface="+mn-ea"/>
              </a:rPr>
            </a:br>
            <a:r>
              <a:rPr kumimoji="1" lang="ja-JP" altLang="en-US" sz="6600" dirty="0">
                <a:latin typeface="+mn-ea"/>
              </a:rPr>
              <a:t>ご遠慮お願いします。</a:t>
            </a:r>
            <a:endParaRPr kumimoji="1" lang="en-US" altLang="ja-JP" sz="6600" dirty="0">
              <a:latin typeface="+mn-ea"/>
            </a:endParaRPr>
          </a:p>
          <a:p>
            <a:pPr algn="ctr"/>
            <a:r>
              <a:rPr lang="en-US" altLang="ja-JP" sz="6600" dirty="0">
                <a:latin typeface="+mn-ea"/>
              </a:rPr>
              <a:t>3. </a:t>
            </a:r>
            <a:r>
              <a:rPr lang="ja-JP" altLang="en-US" sz="6600" dirty="0">
                <a:latin typeface="+mn-ea"/>
              </a:rPr>
              <a:t>ながら作業は</a:t>
            </a:r>
            <a:endParaRPr lang="en-US" altLang="ja-JP" sz="6600" dirty="0">
              <a:latin typeface="+mn-ea"/>
            </a:endParaRPr>
          </a:p>
          <a:p>
            <a:pPr algn="ctr"/>
            <a:r>
              <a:rPr lang="ja-JP" altLang="en-US" sz="6600" dirty="0">
                <a:latin typeface="+mn-ea"/>
              </a:rPr>
              <a:t>ご遠慮ください。</a:t>
            </a:r>
            <a:endParaRPr kumimoji="1" lang="ja-JP" altLang="en-US" sz="6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31505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2425917" y="861169"/>
            <a:ext cx="7433445" cy="51706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6600" dirty="0">
                <a:latin typeface="+mn-ea"/>
              </a:rPr>
              <a:t>受講のポイント</a:t>
            </a:r>
            <a:endParaRPr kumimoji="1" lang="en-US" altLang="ja-JP" sz="6600" dirty="0">
              <a:latin typeface="+mn-ea"/>
            </a:endParaRPr>
          </a:p>
          <a:p>
            <a:pPr algn="ctr"/>
            <a:endParaRPr kumimoji="1" lang="en-US" altLang="ja-JP" sz="6600" dirty="0">
              <a:latin typeface="+mn-ea"/>
            </a:endParaRPr>
          </a:p>
          <a:p>
            <a:pPr algn="ctr"/>
            <a:r>
              <a:rPr lang="en-US" altLang="ja-JP" sz="6600" dirty="0">
                <a:latin typeface="+mn-ea"/>
              </a:rPr>
              <a:t>1.</a:t>
            </a:r>
            <a:r>
              <a:rPr lang="ja-JP" altLang="en-US" sz="6600" dirty="0">
                <a:latin typeface="+mn-ea"/>
              </a:rPr>
              <a:t>「今、ここ」を楽しむ</a:t>
            </a:r>
            <a:endParaRPr lang="en-US" altLang="ja-JP" sz="6600" dirty="0">
              <a:latin typeface="+mn-ea"/>
            </a:endParaRPr>
          </a:p>
          <a:p>
            <a:pPr algn="ctr"/>
            <a:r>
              <a:rPr kumimoji="1" lang="en-US" altLang="ja-JP" sz="6600" dirty="0">
                <a:latin typeface="+mn-ea"/>
              </a:rPr>
              <a:t>2. </a:t>
            </a:r>
            <a:r>
              <a:rPr kumimoji="1" lang="ja-JP" altLang="en-US" sz="6600" dirty="0">
                <a:latin typeface="+mn-ea"/>
              </a:rPr>
              <a:t>お水を飲む</a:t>
            </a:r>
            <a:endParaRPr kumimoji="1" lang="en-US" altLang="ja-JP" sz="6600" dirty="0">
              <a:latin typeface="+mn-ea"/>
            </a:endParaRPr>
          </a:p>
          <a:p>
            <a:pPr algn="ctr"/>
            <a:r>
              <a:rPr lang="en-US" altLang="ja-JP" sz="6600" dirty="0">
                <a:latin typeface="+mn-ea"/>
              </a:rPr>
              <a:t>3. </a:t>
            </a:r>
            <a:r>
              <a:rPr lang="ja-JP" altLang="en-US" sz="6600" dirty="0">
                <a:latin typeface="+mn-ea"/>
              </a:rPr>
              <a:t>反応をしめす</a:t>
            </a:r>
            <a:endParaRPr kumimoji="1" lang="ja-JP" altLang="en-US" sz="6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7051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46"/>
          <p:cNvSpPr/>
          <p:nvPr/>
        </p:nvSpPr>
        <p:spPr>
          <a:xfrm>
            <a:off x="106551" y="722865"/>
            <a:ext cx="12057530" cy="53963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780" tIns="50780" rIns="50780" bIns="50780" anchor="ctr">
            <a:spAutoFit/>
          </a:bodyPr>
          <a:lstStyle/>
          <a:p>
            <a:pPr>
              <a:defRPr sz="4000">
                <a:solidFill>
                  <a:srgbClr val="525252"/>
                </a:solidFill>
              </a:defRPr>
            </a:pPr>
            <a:r>
              <a:rPr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【</a:t>
            </a:r>
            <a:r>
              <a:rPr lang="ja-JP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　</a:t>
            </a:r>
            <a:r>
              <a:rPr lang="ja-JP" alt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講　師</a:t>
            </a:r>
            <a:r>
              <a:rPr lang="ja-JP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　</a:t>
            </a:r>
            <a:r>
              <a:rPr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】</a:t>
            </a:r>
          </a:p>
          <a:p>
            <a:pPr>
              <a:defRPr sz="4000" b="1">
                <a:solidFill>
                  <a:srgbClr val="525252"/>
                </a:solidFill>
              </a:defRPr>
            </a:pPr>
            <a:r>
              <a:rPr lang="ja-JP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長山 寛（ながやま ひろし）</a:t>
            </a:r>
            <a:endParaRPr sz="3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pPr>
              <a:defRPr sz="4000">
                <a:solidFill>
                  <a:srgbClr val="525252"/>
                </a:solidFill>
              </a:defRPr>
            </a:pPr>
            <a:r>
              <a:rPr lang="ja-JP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京都大学法学部卒</a:t>
            </a:r>
            <a:br>
              <a:rPr lang="en-US" altLang="ja-JP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</a:br>
            <a:r>
              <a:rPr lang="ja-JP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満員御礼マーケティング</a:t>
            </a:r>
            <a:r>
              <a:rPr lang="en-US" altLang="ja-JP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(</a:t>
            </a:r>
            <a:r>
              <a:rPr lang="ja-JP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株</a:t>
            </a:r>
            <a:r>
              <a:rPr lang="en-US" altLang="ja-JP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) </a:t>
            </a:r>
            <a:r>
              <a:rPr lang="ja-JP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代表取締役</a:t>
            </a:r>
            <a:endParaRPr lang="en-US" sz="3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pPr>
              <a:defRPr sz="4000">
                <a:solidFill>
                  <a:srgbClr val="525252"/>
                </a:solidFill>
              </a:defRPr>
            </a:pPr>
            <a:r>
              <a:rPr lang="ja-JP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「７種類のライブ集客」の専門家</a:t>
            </a:r>
            <a:endParaRPr lang="en-US" altLang="ja-JP" sz="3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pPr>
              <a:defRPr sz="4000">
                <a:solidFill>
                  <a:srgbClr val="525252"/>
                </a:solidFill>
              </a:defRPr>
            </a:pPr>
            <a:r>
              <a:rPr lang="ja-JP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オンライン完結型ビジネス構築プロデューサー</a:t>
            </a:r>
            <a:endParaRPr lang="en-US" altLang="ja-JP" sz="3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pPr>
              <a:defRPr sz="4000" b="1">
                <a:solidFill>
                  <a:srgbClr val="525252"/>
                </a:solidFill>
              </a:defRPr>
            </a:pPr>
            <a:r>
              <a:rPr lang="ja-JP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・</a:t>
            </a:r>
            <a:r>
              <a:rPr lang="en-US" altLang="ja-JP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9</a:t>
            </a:r>
            <a:r>
              <a:rPr lang="ja-JP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ヶ月で</a:t>
            </a:r>
            <a:r>
              <a:rPr lang="en-US" altLang="ja-JP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60</a:t>
            </a:r>
            <a:r>
              <a:rPr lang="ja-JP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回のセミナーに</a:t>
            </a:r>
            <a:r>
              <a:rPr lang="en-US" altLang="ja-JP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1,869</a:t>
            </a:r>
            <a:r>
              <a:rPr lang="ja-JP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人を集客</a:t>
            </a:r>
            <a:endParaRPr lang="en-US" altLang="ja-JP" sz="32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pPr>
              <a:defRPr sz="4000" b="1">
                <a:solidFill>
                  <a:srgbClr val="525252"/>
                </a:solidFill>
              </a:defRPr>
            </a:pPr>
            <a:r>
              <a:rPr lang="ja-JP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・集客コンサルタントとして起業後</a:t>
            </a:r>
            <a:r>
              <a:rPr lang="en-US" altLang="ja-JP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5</a:t>
            </a:r>
            <a:r>
              <a:rPr lang="ja-JP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ヶ月で</a:t>
            </a:r>
            <a:r>
              <a:rPr lang="en-US" altLang="ja-JP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645</a:t>
            </a:r>
            <a:r>
              <a:rPr lang="ja-JP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万円の売上</a:t>
            </a:r>
            <a:endParaRPr lang="en-US" altLang="ja-JP" sz="32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pPr>
              <a:defRPr sz="4000" b="1">
                <a:solidFill>
                  <a:srgbClr val="525252"/>
                </a:solidFill>
              </a:defRPr>
            </a:pPr>
            <a:r>
              <a:rPr lang="ja-JP" altLang="en-US" sz="32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・</a:t>
            </a:r>
            <a:r>
              <a:rPr lang="ja-JP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「</a:t>
            </a:r>
            <a:r>
              <a:rPr lang="en-US" altLang="ja-JP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Facebook</a:t>
            </a:r>
            <a:r>
              <a:rPr lang="ja-JP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集客 大阪」で</a:t>
            </a:r>
            <a:r>
              <a:rPr lang="en-US" altLang="ja-JP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Google</a:t>
            </a:r>
            <a:r>
              <a:rPr lang="ja-JP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検索</a:t>
            </a:r>
            <a:r>
              <a:rPr lang="en-US" altLang="ja-JP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1</a:t>
            </a:r>
            <a:r>
              <a:rPr lang="ja-JP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位</a:t>
            </a:r>
            <a:endParaRPr lang="en-US" altLang="ja-JP" sz="32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pPr>
              <a:defRPr sz="4000" b="1">
                <a:solidFill>
                  <a:srgbClr val="525252"/>
                </a:solidFill>
              </a:defRPr>
            </a:pPr>
            <a:r>
              <a:rPr lang="ja-JP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・</a:t>
            </a:r>
            <a:r>
              <a:rPr lang="en-US" altLang="ja-JP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Twitter</a:t>
            </a:r>
            <a:r>
              <a:rPr lang="ja-JP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のフォロワー数は</a:t>
            </a:r>
            <a:r>
              <a:rPr lang="en-US" altLang="ja-JP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17</a:t>
            </a:r>
            <a:r>
              <a:rPr lang="ja-JP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万人</a:t>
            </a:r>
            <a:endParaRPr lang="en-US" altLang="ja-JP" sz="32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431" y="0"/>
            <a:ext cx="2493500" cy="332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166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858855" y="290386"/>
            <a:ext cx="1047273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3600" dirty="0"/>
              <a:t>著書</a:t>
            </a:r>
            <a:endParaRPr lang="en-US" altLang="ja-JP" sz="3600" dirty="0"/>
          </a:p>
          <a:p>
            <a:pPr algn="ctr"/>
            <a:r>
              <a:rPr lang="en-US" altLang="ja-JP" sz="3600" dirty="0"/>
              <a:t>『</a:t>
            </a:r>
            <a:r>
              <a:rPr lang="ja-JP" altLang="en-US" sz="3600" dirty="0"/>
              <a:t>人見知りでも集客のプロに！</a:t>
            </a:r>
            <a:endParaRPr lang="en-US" altLang="ja-JP" sz="3600" dirty="0"/>
          </a:p>
          <a:p>
            <a:pPr algn="ctr"/>
            <a:r>
              <a:rPr lang="ja-JP" altLang="en-US" sz="3600" dirty="0"/>
              <a:t>集客ウォーズ エピソード</a:t>
            </a:r>
            <a:r>
              <a:rPr lang="en-US" altLang="ja-JP" sz="3600" dirty="0"/>
              <a:t>4 </a:t>
            </a:r>
            <a:r>
              <a:rPr lang="ja-JP" altLang="en-US" sz="3600" dirty="0"/>
              <a:t>新たなる希望はいずこ・・・</a:t>
            </a:r>
            <a:r>
              <a:rPr lang="en-US" altLang="ja-JP" sz="3600" dirty="0"/>
              <a:t>』</a:t>
            </a:r>
            <a:br>
              <a:rPr lang="ja-JP" altLang="en-US" sz="3600" dirty="0"/>
            </a:br>
            <a:r>
              <a:rPr lang="en-US" altLang="ja-JP" sz="3600" dirty="0"/>
              <a:t>Amazon</a:t>
            </a:r>
            <a:r>
              <a:rPr lang="ja-JP" altLang="en-US" sz="3600" dirty="0"/>
              <a:t>９部門で</a:t>
            </a:r>
            <a:r>
              <a:rPr lang="en-US" altLang="ja-JP" sz="3600" dirty="0"/>
              <a:t>1</a:t>
            </a:r>
            <a:r>
              <a:rPr lang="ja-JP" altLang="en-US" sz="3600" dirty="0"/>
              <a:t>位を獲得！</a:t>
            </a:r>
            <a:endParaRPr kumimoji="1" lang="ja-JP" altLang="en-US" sz="3600" dirty="0"/>
          </a:p>
        </p:txBody>
      </p:sp>
      <p:pic>
        <p:nvPicPr>
          <p:cNvPr id="1026" name="Picture 2" descr="『人見知りでも集客のプロに！集客ウォーズ エピソード4 新たなる希望はいずこ・・・』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0" y="2683673"/>
            <a:ext cx="3238500" cy="4171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2676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303979"/>
            <a:ext cx="9144000" cy="5143500"/>
          </a:xfrm>
          <a:prstGeom prst="rect">
            <a:avLst/>
          </a:prstGeom>
        </p:spPr>
      </p:pic>
      <p:sp>
        <p:nvSpPr>
          <p:cNvPr id="4" name="テキスト ボックス 3"/>
          <p:cNvSpPr txBox="1"/>
          <p:nvPr/>
        </p:nvSpPr>
        <p:spPr>
          <a:xfrm>
            <a:off x="2219696" y="411831"/>
            <a:ext cx="77668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600" dirty="0"/>
              <a:t>大阪府主催「集客戦略」セミナーに登壇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135126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1060986" y="687372"/>
            <a:ext cx="10086321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400" dirty="0">
                <a:latin typeface="+mn-ea"/>
              </a:rPr>
              <a:t>【</a:t>
            </a:r>
            <a:r>
              <a:rPr lang="ja-JP" altLang="en-US" sz="4400" dirty="0">
                <a:latin typeface="+mn-ea"/>
              </a:rPr>
              <a:t>自己紹介タイム</a:t>
            </a:r>
            <a:r>
              <a:rPr lang="en-US" altLang="ja-JP" sz="4400" dirty="0">
                <a:latin typeface="+mn-ea"/>
              </a:rPr>
              <a:t>】</a:t>
            </a:r>
            <a:endParaRPr lang="ja-JP" altLang="en-US" sz="4400" dirty="0">
              <a:latin typeface="+mn-ea"/>
            </a:endParaRPr>
          </a:p>
          <a:p>
            <a:r>
              <a:rPr lang="en-US" altLang="ja-JP" sz="4400" dirty="0">
                <a:latin typeface="+mn-ea"/>
              </a:rPr>
              <a:t>1. </a:t>
            </a:r>
            <a:r>
              <a:rPr lang="ja-JP" altLang="en-US" sz="4400" dirty="0">
                <a:latin typeface="+mn-ea"/>
              </a:rPr>
              <a:t>お名前</a:t>
            </a:r>
          </a:p>
          <a:p>
            <a:r>
              <a:rPr lang="en-US" altLang="ja-JP" sz="4400" dirty="0">
                <a:latin typeface="+mn-ea"/>
              </a:rPr>
              <a:t>2. </a:t>
            </a:r>
            <a:r>
              <a:rPr lang="ja-JP" altLang="en-US" sz="4400" dirty="0">
                <a:latin typeface="+mn-ea"/>
              </a:rPr>
              <a:t>どちらから参加されてますか？</a:t>
            </a:r>
          </a:p>
          <a:p>
            <a:r>
              <a:rPr lang="en-US" altLang="ja-JP" sz="4400" dirty="0">
                <a:latin typeface="+mn-ea"/>
              </a:rPr>
              <a:t>3. </a:t>
            </a:r>
            <a:r>
              <a:rPr lang="ja-JP" altLang="en-US" sz="4400" dirty="0">
                <a:latin typeface="+mn-ea"/>
              </a:rPr>
              <a:t>お仕事</a:t>
            </a:r>
          </a:p>
          <a:p>
            <a:r>
              <a:rPr lang="en-US" altLang="ja-JP" sz="4400" dirty="0">
                <a:latin typeface="+mn-ea"/>
              </a:rPr>
              <a:t>4. </a:t>
            </a:r>
            <a:r>
              <a:rPr lang="ja-JP" altLang="en-US" sz="4400" dirty="0">
                <a:latin typeface="+mn-ea"/>
              </a:rPr>
              <a:t>なぜ</a:t>
            </a:r>
            <a:r>
              <a:rPr lang="en-US" altLang="ja-JP" sz="4400" dirty="0">
                <a:latin typeface="+mn-ea"/>
              </a:rPr>
              <a:t>『</a:t>
            </a:r>
            <a:r>
              <a:rPr lang="ja-JP" altLang="en-US" sz="4400" dirty="0">
                <a:latin typeface="+mn-ea"/>
              </a:rPr>
              <a:t>７種類のライブ集客</a:t>
            </a:r>
            <a:r>
              <a:rPr lang="en-US" altLang="ja-JP" sz="4400" dirty="0">
                <a:latin typeface="+mn-ea"/>
              </a:rPr>
              <a:t>』</a:t>
            </a:r>
          </a:p>
          <a:p>
            <a:r>
              <a:rPr lang="ja-JP" altLang="en-US" sz="4400" dirty="0">
                <a:latin typeface="+mn-ea"/>
              </a:rPr>
              <a:t>　に興味を持ったのか？ </a:t>
            </a:r>
          </a:p>
          <a:p>
            <a:r>
              <a:rPr lang="en-US" altLang="ja-JP" sz="4400" dirty="0">
                <a:latin typeface="+mn-ea"/>
              </a:rPr>
              <a:t>5. 『</a:t>
            </a:r>
            <a:r>
              <a:rPr lang="ja-JP" altLang="en-US" sz="4400" dirty="0">
                <a:latin typeface="+mn-ea"/>
              </a:rPr>
              <a:t>７種類のライブ集客</a:t>
            </a:r>
            <a:r>
              <a:rPr lang="en-US" altLang="ja-JP" sz="4400" dirty="0">
                <a:latin typeface="+mn-ea"/>
              </a:rPr>
              <a:t>』</a:t>
            </a:r>
            <a:r>
              <a:rPr lang="ja-JP" altLang="en-US" sz="4400" dirty="0">
                <a:latin typeface="+mn-ea"/>
              </a:rPr>
              <a:t>をマスター</a:t>
            </a:r>
            <a:endParaRPr lang="en-US" altLang="ja-JP" sz="4400" dirty="0">
              <a:latin typeface="+mn-ea"/>
            </a:endParaRPr>
          </a:p>
          <a:p>
            <a:r>
              <a:rPr lang="ja-JP" altLang="en-US" sz="4400" dirty="0">
                <a:latin typeface="+mn-ea"/>
              </a:rPr>
              <a:t>　することで自分の未来はどう変わるか？</a:t>
            </a:r>
            <a:endParaRPr kumimoji="1" lang="ja-JP" altLang="en-US" sz="4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3918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0" y="2298503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7200" dirty="0">
                <a:solidFill>
                  <a:srgbClr val="E3022C"/>
                </a:solidFill>
                <a:latin typeface="+mj-ea"/>
                <a:ea typeface="+mj-ea"/>
              </a:rPr>
              <a:t>７種類のライブ集客</a:t>
            </a:r>
          </a:p>
          <a:p>
            <a:pPr algn="ctr"/>
            <a:r>
              <a:rPr lang="ja-JP" altLang="en-US" sz="7200" dirty="0">
                <a:latin typeface="+mj-ea"/>
                <a:ea typeface="+mj-ea"/>
              </a:rPr>
              <a:t>とは？</a:t>
            </a:r>
          </a:p>
        </p:txBody>
      </p:sp>
    </p:spTree>
    <p:extLst>
      <p:ext uri="{BB962C8B-B14F-4D97-AF65-F5344CB8AC3E}">
        <p14:creationId xmlns:p14="http://schemas.microsoft.com/office/powerpoint/2010/main" val="1534606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3048000" y="2690336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ja-JP" altLang="en-US" sz="5400" dirty="0"/>
          </a:p>
        </p:txBody>
      </p:sp>
      <p:sp>
        <p:nvSpPr>
          <p:cNvPr id="3" name="正方形/長方形 2"/>
          <p:cNvSpPr/>
          <p:nvPr/>
        </p:nvSpPr>
        <p:spPr>
          <a:xfrm>
            <a:off x="0" y="15042"/>
            <a:ext cx="12192000" cy="683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5400" dirty="0">
                <a:latin typeface="+mn-ea"/>
              </a:rPr>
              <a:t>「あなただから」とお願いされる</a:t>
            </a:r>
            <a:endParaRPr lang="en-US" altLang="ja-JP" sz="5400" dirty="0">
              <a:latin typeface="+mn-ea"/>
            </a:endParaRPr>
          </a:p>
          <a:p>
            <a:pPr algn="ctr"/>
            <a:r>
              <a:rPr lang="ja-JP" altLang="en-US" sz="5400" dirty="0">
                <a:latin typeface="+mn-ea"/>
              </a:rPr>
              <a:t>濃いファンを集め</a:t>
            </a:r>
            <a:br>
              <a:rPr lang="ja-JP" altLang="en-US" sz="5400" dirty="0">
                <a:latin typeface="+mn-ea"/>
              </a:rPr>
            </a:br>
            <a:r>
              <a:rPr lang="ja-JP" altLang="en-US" sz="5400" dirty="0">
                <a:solidFill>
                  <a:srgbClr val="E3022C"/>
                </a:solidFill>
                <a:latin typeface="+mn-ea"/>
              </a:rPr>
              <a:t>売上をねらって生みだす</a:t>
            </a:r>
            <a:br>
              <a:rPr lang="ja-JP" altLang="en-US" sz="4800" dirty="0">
                <a:solidFill>
                  <a:srgbClr val="E3022C"/>
                </a:solidFill>
                <a:latin typeface="+mn-ea"/>
              </a:rPr>
            </a:br>
            <a:r>
              <a:rPr lang="ja-JP" altLang="en-US" sz="6600" dirty="0">
                <a:solidFill>
                  <a:srgbClr val="E3022C"/>
                </a:solidFill>
                <a:latin typeface="+mn-ea"/>
              </a:rPr>
              <a:t>最強の集客方法</a:t>
            </a:r>
            <a:br>
              <a:rPr lang="ja-JP" altLang="en-US" sz="4800" dirty="0">
                <a:solidFill>
                  <a:srgbClr val="E3022C"/>
                </a:solidFill>
                <a:latin typeface="+mn-ea"/>
              </a:rPr>
            </a:br>
            <a:br>
              <a:rPr lang="ja-JP" altLang="en-US" sz="4800" dirty="0">
                <a:latin typeface="+mn-ea"/>
              </a:rPr>
            </a:br>
            <a:r>
              <a:rPr lang="ja-JP" altLang="en-US" sz="5400" dirty="0">
                <a:solidFill>
                  <a:srgbClr val="E3022C"/>
                </a:solidFill>
                <a:latin typeface="+mn-ea"/>
              </a:rPr>
              <a:t>お金をかけず</a:t>
            </a:r>
            <a:r>
              <a:rPr lang="ja-JP" altLang="en-US" sz="5400" dirty="0">
                <a:latin typeface="+mn-ea"/>
              </a:rPr>
              <a:t>に</a:t>
            </a:r>
            <a:endParaRPr lang="en-US" altLang="ja-JP" sz="5400" dirty="0">
              <a:latin typeface="+mn-ea"/>
            </a:endParaRPr>
          </a:p>
          <a:p>
            <a:pPr algn="ctr"/>
            <a:r>
              <a:rPr lang="ja-JP" altLang="en-US" sz="5400" dirty="0">
                <a:latin typeface="+mn-ea"/>
              </a:rPr>
              <a:t>実行できる</a:t>
            </a:r>
            <a:endParaRPr lang="en-US" altLang="ja-JP" sz="5400" dirty="0">
              <a:latin typeface="+mn-ea"/>
            </a:endParaRPr>
          </a:p>
          <a:p>
            <a:pPr algn="ctr"/>
            <a:r>
              <a:rPr lang="ja-JP" altLang="en-US" sz="5400" dirty="0">
                <a:latin typeface="+mn-ea"/>
              </a:rPr>
              <a:t>シンプルな手法</a:t>
            </a:r>
            <a:endParaRPr lang="en-US" altLang="ja-JP" sz="5400" dirty="0">
              <a:solidFill>
                <a:srgbClr val="FF006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88192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236011" y="330125"/>
            <a:ext cx="11719677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+mn-ea"/>
              </a:rPr>
              <a:t>・</a:t>
            </a:r>
            <a:r>
              <a:rPr lang="en-US" altLang="ja-JP" sz="3600" dirty="0">
                <a:latin typeface="+mn-ea"/>
              </a:rPr>
              <a:t>Facebook</a:t>
            </a:r>
            <a:r>
              <a:rPr lang="ja-JP" altLang="en-US" sz="3600" dirty="0">
                <a:latin typeface="+mn-ea"/>
              </a:rPr>
              <a:t>、</a:t>
            </a:r>
            <a:r>
              <a:rPr lang="en-US" altLang="ja-JP" sz="3600" dirty="0">
                <a:latin typeface="+mn-ea"/>
              </a:rPr>
              <a:t>Instagram</a:t>
            </a:r>
            <a:r>
              <a:rPr lang="ja-JP" altLang="en-US" sz="3600" dirty="0">
                <a:latin typeface="+mn-ea"/>
              </a:rPr>
              <a:t>、</a:t>
            </a:r>
            <a:r>
              <a:rPr lang="en-US" altLang="ja-JP" sz="3600" dirty="0">
                <a:latin typeface="+mn-ea"/>
              </a:rPr>
              <a:t>YouTube</a:t>
            </a:r>
            <a:r>
              <a:rPr lang="ja-JP" altLang="en-US" sz="3600" dirty="0">
                <a:latin typeface="+mn-ea"/>
              </a:rPr>
              <a:t>といった</a:t>
            </a:r>
            <a:endParaRPr lang="en-US" altLang="ja-JP" sz="3600" dirty="0">
              <a:latin typeface="+mn-ea"/>
            </a:endParaRPr>
          </a:p>
          <a:p>
            <a:r>
              <a:rPr lang="ja-JP" altLang="en-US" sz="3600" dirty="0">
                <a:latin typeface="+mn-ea"/>
              </a:rPr>
              <a:t>　</a:t>
            </a:r>
            <a:r>
              <a:rPr lang="en-US" altLang="ja-JP" sz="3600" dirty="0">
                <a:latin typeface="+mn-ea"/>
              </a:rPr>
              <a:t>SNS</a:t>
            </a:r>
            <a:r>
              <a:rPr lang="ja-JP" altLang="en-US" sz="3600" dirty="0">
                <a:latin typeface="+mn-ea"/>
              </a:rPr>
              <a:t>のライブ配信を使った集客法</a:t>
            </a:r>
          </a:p>
          <a:p>
            <a:r>
              <a:rPr lang="ja-JP" altLang="en-US" sz="3600" dirty="0">
                <a:latin typeface="+mn-ea"/>
              </a:rPr>
              <a:t>・</a:t>
            </a:r>
            <a:r>
              <a:rPr lang="en-US" altLang="ja-JP" sz="3600" dirty="0">
                <a:latin typeface="+mn-ea"/>
              </a:rPr>
              <a:t>WEB</a:t>
            </a:r>
            <a:r>
              <a:rPr lang="ja-JP" altLang="en-US" sz="3600" dirty="0">
                <a:latin typeface="+mn-ea"/>
              </a:rPr>
              <a:t>苦手でもスマホひとつで</a:t>
            </a:r>
            <a:endParaRPr lang="en-US" altLang="ja-JP" sz="3600" dirty="0">
              <a:latin typeface="+mn-ea"/>
            </a:endParaRPr>
          </a:p>
          <a:p>
            <a:r>
              <a:rPr lang="ja-JP" altLang="en-US" sz="3600" dirty="0">
                <a:latin typeface="+mn-ea"/>
              </a:rPr>
              <a:t>　</a:t>
            </a:r>
            <a:r>
              <a:rPr lang="en-US" altLang="ja-JP" sz="3600" dirty="0">
                <a:latin typeface="+mn-ea"/>
              </a:rPr>
              <a:t>30</a:t>
            </a:r>
            <a:r>
              <a:rPr lang="ja-JP" altLang="en-US" sz="3600" dirty="0">
                <a:latin typeface="+mn-ea"/>
              </a:rPr>
              <a:t>万円～</a:t>
            </a:r>
            <a:r>
              <a:rPr lang="en-US" altLang="ja-JP" sz="3600" dirty="0">
                <a:latin typeface="+mn-ea"/>
              </a:rPr>
              <a:t>100</a:t>
            </a:r>
            <a:r>
              <a:rPr lang="ja-JP" altLang="en-US" sz="3600" dirty="0">
                <a:latin typeface="+mn-ea"/>
              </a:rPr>
              <a:t>万円を売り上げることができる</a:t>
            </a:r>
          </a:p>
          <a:p>
            <a:r>
              <a:rPr lang="ja-JP" altLang="en-US" sz="3600" dirty="0">
                <a:latin typeface="+mn-ea"/>
              </a:rPr>
              <a:t>・圧倒的な信頼関係を作りながら集客し</a:t>
            </a:r>
            <a:endParaRPr lang="en-US" altLang="ja-JP" sz="3600" dirty="0">
              <a:latin typeface="+mn-ea"/>
            </a:endParaRPr>
          </a:p>
          <a:p>
            <a:r>
              <a:rPr lang="ja-JP" altLang="en-US" sz="3600" dirty="0">
                <a:latin typeface="+mn-ea"/>
              </a:rPr>
              <a:t>　ファンを増やしながら売上も伸ばせる</a:t>
            </a:r>
          </a:p>
          <a:p>
            <a:r>
              <a:rPr lang="ja-JP" altLang="en-US" sz="3600" dirty="0">
                <a:latin typeface="+mn-ea"/>
              </a:rPr>
              <a:t>・</a:t>
            </a:r>
            <a:r>
              <a:rPr lang="en-US" altLang="ja-JP" sz="3600" dirty="0">
                <a:latin typeface="+mn-ea"/>
              </a:rPr>
              <a:t>LP</a:t>
            </a:r>
            <a:r>
              <a:rPr lang="ja-JP" altLang="en-US" sz="3600" dirty="0">
                <a:latin typeface="+mn-ea"/>
              </a:rPr>
              <a:t>（集客ページ）やステップメール・動画など</a:t>
            </a:r>
            <a:endParaRPr lang="en-US" altLang="ja-JP" sz="3600" dirty="0">
              <a:latin typeface="+mn-ea"/>
            </a:endParaRPr>
          </a:p>
          <a:p>
            <a:r>
              <a:rPr lang="ja-JP" altLang="en-US" sz="3600" dirty="0">
                <a:latin typeface="+mn-ea"/>
              </a:rPr>
              <a:t>　作るのに時間がかかるものは不要、</a:t>
            </a:r>
            <a:endParaRPr lang="en-US" altLang="ja-JP" sz="3600" dirty="0">
              <a:latin typeface="+mn-ea"/>
            </a:endParaRPr>
          </a:p>
          <a:p>
            <a:r>
              <a:rPr lang="ja-JP" altLang="en-US" sz="3600" dirty="0">
                <a:latin typeface="+mn-ea"/>
              </a:rPr>
              <a:t>　お金をかけずにカンタンにできる</a:t>
            </a:r>
          </a:p>
          <a:p>
            <a:r>
              <a:rPr lang="ja-JP" altLang="en-US" sz="3600" dirty="0">
                <a:latin typeface="+mn-ea"/>
              </a:rPr>
              <a:t>・王道のマーケティングのエッセンスを盛り込んでいるので、</a:t>
            </a:r>
          </a:p>
          <a:p>
            <a:r>
              <a:rPr lang="ja-JP" altLang="en-US" sz="3600" dirty="0">
                <a:latin typeface="+mn-ea"/>
              </a:rPr>
              <a:t>　</a:t>
            </a:r>
            <a:r>
              <a:rPr lang="ja-JP" altLang="en-US" sz="3600" dirty="0">
                <a:solidFill>
                  <a:srgbClr val="E3022C"/>
                </a:solidFill>
                <a:latin typeface="+mn-ea"/>
              </a:rPr>
              <a:t>ビジネスを戦略的に伸ばしていくことができる</a:t>
            </a:r>
          </a:p>
        </p:txBody>
      </p:sp>
    </p:spTree>
    <p:extLst>
      <p:ext uri="{BB962C8B-B14F-4D97-AF65-F5344CB8AC3E}">
        <p14:creationId xmlns:p14="http://schemas.microsoft.com/office/powerpoint/2010/main" val="3950453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0" y="1720281"/>
            <a:ext cx="121919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7200" dirty="0">
                <a:latin typeface="+mn-ea"/>
              </a:rPr>
              <a:t>では、なぜ</a:t>
            </a:r>
          </a:p>
          <a:p>
            <a:pPr algn="ctr"/>
            <a:r>
              <a:rPr lang="ja-JP" altLang="en-US" sz="7200" dirty="0">
                <a:solidFill>
                  <a:srgbClr val="E3022C"/>
                </a:solidFill>
                <a:latin typeface="+mn-ea"/>
              </a:rPr>
              <a:t>７種類のライブ集客</a:t>
            </a:r>
          </a:p>
          <a:p>
            <a:pPr algn="ctr"/>
            <a:r>
              <a:rPr lang="ja-JP" altLang="en-US" sz="7200" dirty="0">
                <a:latin typeface="+mn-ea"/>
              </a:rPr>
              <a:t>がチャンスなのか？</a:t>
            </a:r>
          </a:p>
        </p:txBody>
      </p:sp>
    </p:spTree>
    <p:extLst>
      <p:ext uri="{BB962C8B-B14F-4D97-AF65-F5344CB8AC3E}">
        <p14:creationId xmlns:p14="http://schemas.microsoft.com/office/powerpoint/2010/main" val="2729477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704995" y="330617"/>
            <a:ext cx="1078434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>
                <a:latin typeface="+mn-ea"/>
              </a:rPr>
              <a:t>・</a:t>
            </a:r>
            <a:r>
              <a:rPr lang="ja-JP" altLang="en-US" sz="4000" dirty="0">
                <a:solidFill>
                  <a:srgbClr val="E3022C"/>
                </a:solidFill>
                <a:latin typeface="+mn-ea"/>
              </a:rPr>
              <a:t>時代のトレンドと流れ</a:t>
            </a:r>
            <a:r>
              <a:rPr lang="ja-JP" altLang="en-US" sz="4000" dirty="0">
                <a:latin typeface="+mn-ea"/>
              </a:rPr>
              <a:t>に乗った集客方法で</a:t>
            </a:r>
            <a:endParaRPr lang="en-US" altLang="ja-JP" sz="4000" dirty="0">
              <a:latin typeface="+mn-ea"/>
            </a:endParaRPr>
          </a:p>
          <a:p>
            <a:r>
              <a:rPr lang="ja-JP" altLang="en-US" sz="4000" dirty="0">
                <a:solidFill>
                  <a:srgbClr val="E3022C"/>
                </a:solidFill>
                <a:latin typeface="+mn-ea"/>
              </a:rPr>
              <a:t>　メディアにもプッシュされる</a:t>
            </a:r>
          </a:p>
          <a:p>
            <a:r>
              <a:rPr lang="ja-JP" altLang="en-US" sz="4000" dirty="0">
                <a:latin typeface="+mn-ea"/>
              </a:rPr>
              <a:t>・好きなことや「特技・スキル」で</a:t>
            </a:r>
            <a:endParaRPr lang="en-US" altLang="ja-JP" sz="4000" dirty="0">
              <a:latin typeface="+mn-ea"/>
            </a:endParaRPr>
          </a:p>
          <a:p>
            <a:r>
              <a:rPr lang="ja-JP" altLang="en-US" sz="4000" dirty="0">
                <a:latin typeface="+mn-ea"/>
              </a:rPr>
              <a:t>　</a:t>
            </a:r>
            <a:r>
              <a:rPr lang="ja-JP" altLang="en-US" sz="4000" dirty="0">
                <a:solidFill>
                  <a:srgbClr val="E3022C"/>
                </a:solidFill>
                <a:latin typeface="+mn-ea"/>
              </a:rPr>
              <a:t>オンライン完結型ビジネス</a:t>
            </a:r>
            <a:r>
              <a:rPr lang="ja-JP" altLang="en-US" sz="4000" dirty="0">
                <a:latin typeface="+mn-ea"/>
              </a:rPr>
              <a:t>を作り</a:t>
            </a:r>
            <a:endParaRPr lang="en-US" altLang="ja-JP" sz="4000" dirty="0">
              <a:latin typeface="+mn-ea"/>
            </a:endParaRPr>
          </a:p>
          <a:p>
            <a:r>
              <a:rPr lang="ja-JP" altLang="en-US" sz="4000" dirty="0">
                <a:latin typeface="+mn-ea"/>
              </a:rPr>
              <a:t>　</a:t>
            </a:r>
            <a:r>
              <a:rPr lang="en-US" altLang="ja-JP" sz="4000" dirty="0">
                <a:solidFill>
                  <a:srgbClr val="E3022C"/>
                </a:solidFill>
                <a:latin typeface="+mn-ea"/>
              </a:rPr>
              <a:t>30</a:t>
            </a:r>
            <a:r>
              <a:rPr lang="ja-JP" altLang="en-US" sz="4000" dirty="0">
                <a:solidFill>
                  <a:srgbClr val="E3022C"/>
                </a:solidFill>
                <a:latin typeface="+mn-ea"/>
              </a:rPr>
              <a:t>万円</a:t>
            </a:r>
            <a:r>
              <a:rPr lang="en-US" altLang="ja-JP" sz="4000" dirty="0">
                <a:solidFill>
                  <a:srgbClr val="E3022C"/>
                </a:solidFill>
                <a:latin typeface="+mn-ea"/>
              </a:rPr>
              <a:t>〜100</a:t>
            </a:r>
            <a:r>
              <a:rPr lang="ja-JP" altLang="en-US" sz="4000" dirty="0">
                <a:solidFill>
                  <a:srgbClr val="E3022C"/>
                </a:solidFill>
                <a:latin typeface="+mn-ea"/>
              </a:rPr>
              <a:t>万円</a:t>
            </a:r>
            <a:r>
              <a:rPr lang="ja-JP" altLang="en-US" sz="4000" dirty="0">
                <a:latin typeface="+mn-ea"/>
              </a:rPr>
              <a:t>を何度でも生み出せる</a:t>
            </a:r>
          </a:p>
          <a:p>
            <a:r>
              <a:rPr lang="ja-JP" altLang="en-US" sz="4000" dirty="0">
                <a:latin typeface="+mn-ea"/>
              </a:rPr>
              <a:t>・関係構築された</a:t>
            </a:r>
            <a:r>
              <a:rPr lang="ja-JP" altLang="en-US" sz="4000" dirty="0">
                <a:solidFill>
                  <a:srgbClr val="E3022C"/>
                </a:solidFill>
                <a:latin typeface="+mn-ea"/>
              </a:rPr>
              <a:t>濃い見込客</a:t>
            </a:r>
            <a:r>
              <a:rPr lang="ja-JP" altLang="en-US" sz="4000" dirty="0">
                <a:latin typeface="+mn-ea"/>
              </a:rPr>
              <a:t>が集まり</a:t>
            </a:r>
            <a:endParaRPr lang="en-US" altLang="ja-JP" sz="4000" dirty="0">
              <a:latin typeface="+mn-ea"/>
            </a:endParaRPr>
          </a:p>
          <a:p>
            <a:r>
              <a:rPr lang="ja-JP" altLang="en-US" sz="4000" dirty="0">
                <a:latin typeface="+mn-ea"/>
              </a:rPr>
              <a:t>　</a:t>
            </a:r>
            <a:r>
              <a:rPr lang="ja-JP" altLang="en-US" sz="4000" dirty="0">
                <a:solidFill>
                  <a:srgbClr val="E3022C"/>
                </a:solidFill>
                <a:latin typeface="+mn-ea"/>
              </a:rPr>
              <a:t>ファンが増える</a:t>
            </a:r>
            <a:r>
              <a:rPr lang="ja-JP" altLang="en-US" sz="4000" dirty="0">
                <a:latin typeface="+mn-ea"/>
              </a:rPr>
              <a:t>ので「あなただから」と選ばれて</a:t>
            </a:r>
            <a:endParaRPr lang="en-US" altLang="ja-JP" sz="4000" dirty="0">
              <a:latin typeface="+mn-ea"/>
            </a:endParaRPr>
          </a:p>
          <a:p>
            <a:r>
              <a:rPr lang="ja-JP" altLang="en-US" sz="4000" dirty="0">
                <a:latin typeface="+mn-ea"/>
              </a:rPr>
              <a:t>　</a:t>
            </a:r>
            <a:r>
              <a:rPr lang="ja-JP" altLang="en-US" sz="4000" dirty="0">
                <a:solidFill>
                  <a:srgbClr val="E3022C"/>
                </a:solidFill>
                <a:latin typeface="+mn-ea"/>
              </a:rPr>
              <a:t>売り込みなしに売れる</a:t>
            </a:r>
          </a:p>
          <a:p>
            <a:r>
              <a:rPr lang="ja-JP" altLang="en-US" sz="4000" dirty="0">
                <a:latin typeface="+mn-ea"/>
              </a:rPr>
              <a:t>・会社や社会に頼ることなく、</a:t>
            </a:r>
            <a:endParaRPr lang="en-US" altLang="ja-JP" sz="4000" dirty="0">
              <a:latin typeface="+mn-ea"/>
            </a:endParaRPr>
          </a:p>
          <a:p>
            <a:r>
              <a:rPr lang="ja-JP" altLang="en-US" sz="4000" dirty="0">
                <a:latin typeface="+mn-ea"/>
              </a:rPr>
              <a:t>　</a:t>
            </a:r>
            <a:r>
              <a:rPr lang="ja-JP" altLang="en-US" sz="4000" dirty="0">
                <a:solidFill>
                  <a:srgbClr val="E3022C"/>
                </a:solidFill>
                <a:latin typeface="+mn-ea"/>
              </a:rPr>
              <a:t>生涯生き抜くスキル</a:t>
            </a:r>
            <a:r>
              <a:rPr lang="ja-JP" altLang="en-US" sz="4000" dirty="0">
                <a:latin typeface="+mn-ea"/>
              </a:rPr>
              <a:t>を手に入れることができる</a:t>
            </a:r>
          </a:p>
        </p:txBody>
      </p:sp>
    </p:spTree>
    <p:extLst>
      <p:ext uri="{BB962C8B-B14F-4D97-AF65-F5344CB8AC3E}">
        <p14:creationId xmlns:p14="http://schemas.microsoft.com/office/powerpoint/2010/main" val="3747039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/>
          <p:nvPr/>
        </p:nvSpPr>
        <p:spPr>
          <a:xfrm>
            <a:off x="1" y="1176954"/>
            <a:ext cx="12192000" cy="4504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72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ヒラギノ角ゴ Pro W3"/>
              </a:rPr>
              <a:t>長山 寛</a:t>
            </a:r>
            <a:endParaRPr lang="en-US" sz="7200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  <a:cs typeface="ヒラギノ角ゴ Pro W3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sz="72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ヒラギノ角ゴ Pro W3"/>
              </a:rPr>
              <a:t>と</a:t>
            </a: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sz="72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ヒラギノ角ゴ Pro W3"/>
              </a:rPr>
              <a:t>『</a:t>
            </a:r>
            <a:r>
              <a:rPr lang="ja-JP" altLang="en-US" sz="72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ヒラギノ角ゴ Pro W3"/>
              </a:rPr>
              <a:t>７種類のライブ集客</a:t>
            </a:r>
            <a:r>
              <a:rPr sz="72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ヒラギノ角ゴ Pro W3"/>
              </a:rPr>
              <a:t>』</a:t>
            </a:r>
            <a:endParaRPr lang="en-US" sz="7200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  <a:cs typeface="ヒラギノ角ゴ Pro W3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72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ヒラギノ角ゴ Pro W3"/>
              </a:rPr>
              <a:t>の出逢いのストーリー</a:t>
            </a:r>
            <a:endParaRPr sz="7200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1587694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/>
        </p:nvSpPr>
        <p:spPr>
          <a:xfrm>
            <a:off x="85723" y="378765"/>
            <a:ext cx="12015537" cy="614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・学歴は高いが、学生時代は暗黒だった</a:t>
            </a:r>
          </a:p>
          <a:p>
            <a:pPr lvl="0"/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・音楽と野球ばっかりで勉強せず</a:t>
            </a:r>
          </a:p>
          <a:p>
            <a:pPr lvl="0"/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・人見知りで人とお茶をする習慣もなし</a:t>
            </a:r>
          </a:p>
          <a:p>
            <a:pPr lvl="0"/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・</a:t>
            </a:r>
            <a:r>
              <a:rPr lang="en-US" altLang="ja-JP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23</a:t>
            </a:r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歳でダイエットコーチをスタートしたが</a:t>
            </a:r>
          </a:p>
          <a:p>
            <a:pPr lvl="0"/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　友だちがいないので全然集客できない</a:t>
            </a:r>
          </a:p>
          <a:p>
            <a:pPr lvl="0"/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・本を読んで勉強したが・・・</a:t>
            </a:r>
          </a:p>
          <a:p>
            <a:pPr lvl="0"/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・チラシをまいてもブログを書いても集客できず</a:t>
            </a:r>
          </a:p>
          <a:p>
            <a:pPr lvl="0"/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・ネット好きで器用だがお金に変える方法がわからず</a:t>
            </a:r>
          </a:p>
          <a:p>
            <a:pPr lvl="0"/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・</a:t>
            </a:r>
            <a:r>
              <a:rPr lang="en-US" altLang="ja-JP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Twitter</a:t>
            </a:r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を</a:t>
            </a:r>
            <a:r>
              <a:rPr lang="en-US" altLang="ja-JP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1</a:t>
            </a:r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日</a:t>
            </a:r>
            <a:r>
              <a:rPr lang="en-US" altLang="ja-JP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14</a:t>
            </a:r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時間やって集客できるようになったが・・・</a:t>
            </a:r>
          </a:p>
          <a:p>
            <a:pPr lvl="0"/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　なかなか時間に見合わない</a:t>
            </a:r>
          </a:p>
          <a:p>
            <a:pPr lvl="0"/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・最後は</a:t>
            </a:r>
            <a:r>
              <a:rPr lang="en-US" altLang="ja-JP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3</a:t>
            </a:r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年半本業にして借金が</a:t>
            </a:r>
            <a:r>
              <a:rPr lang="en-US" altLang="ja-JP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300</a:t>
            </a:r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万円できて廃業</a:t>
            </a:r>
          </a:p>
        </p:txBody>
      </p:sp>
    </p:spTree>
    <p:extLst>
      <p:ext uri="{BB962C8B-B14F-4D97-AF65-F5344CB8AC3E}">
        <p14:creationId xmlns:p14="http://schemas.microsoft.com/office/powerpoint/2010/main" val="1868376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/>
        </p:nvSpPr>
        <p:spPr>
          <a:xfrm>
            <a:off x="78743" y="371780"/>
            <a:ext cx="12045782" cy="6112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・</a:t>
            </a:r>
            <a:r>
              <a:rPr lang="en-US" altLang="ja-JP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2</a:t>
            </a:r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回目の起業</a:t>
            </a:r>
          </a:p>
          <a:p>
            <a:pPr lvl="0"/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・大阪府の事業を担当、</a:t>
            </a:r>
            <a:endParaRPr lang="en-US" altLang="ja-JP" sz="3600" dirty="0">
              <a:solidFill>
                <a:schemeClr val="dk1"/>
              </a:solidFill>
              <a:latin typeface="+mn-ea"/>
              <a:cs typeface="Calibri"/>
              <a:sym typeface="Calibri"/>
            </a:endParaRPr>
          </a:p>
          <a:p>
            <a:pPr lvl="0"/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　</a:t>
            </a:r>
            <a:r>
              <a:rPr lang="en-US" altLang="ja-JP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9</a:t>
            </a:r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ヶ月で</a:t>
            </a:r>
            <a:r>
              <a:rPr lang="en-US" altLang="ja-JP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60</a:t>
            </a:r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回のセミナーに</a:t>
            </a:r>
            <a:r>
              <a:rPr lang="en-US" altLang="ja-JP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1,869</a:t>
            </a:r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人を集客</a:t>
            </a:r>
            <a:endParaRPr lang="en-US" altLang="ja-JP" sz="3600" dirty="0">
              <a:solidFill>
                <a:schemeClr val="dk1"/>
              </a:solidFill>
              <a:latin typeface="+mn-ea"/>
              <a:cs typeface="Calibri"/>
              <a:sym typeface="Calibri"/>
            </a:endParaRPr>
          </a:p>
          <a:p>
            <a:pPr lvl="0"/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・でも、稼ぐ方法がわからない・・・</a:t>
            </a:r>
            <a:endParaRPr lang="en-US" altLang="ja-JP" sz="3600" dirty="0">
              <a:solidFill>
                <a:schemeClr val="dk1"/>
              </a:solidFill>
              <a:latin typeface="+mn-ea"/>
              <a:cs typeface="Calibri"/>
              <a:sym typeface="Calibri"/>
            </a:endParaRPr>
          </a:p>
          <a:p>
            <a:pPr lvl="0"/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・あるコンサルさんとの出会い</a:t>
            </a:r>
            <a:endParaRPr lang="en-US" altLang="ja-JP" sz="3600" dirty="0">
              <a:solidFill>
                <a:schemeClr val="dk1"/>
              </a:solidFill>
              <a:latin typeface="+mn-ea"/>
              <a:cs typeface="Calibri"/>
              <a:sym typeface="Calibri"/>
            </a:endParaRPr>
          </a:p>
          <a:p>
            <a:pPr lvl="0"/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・月商</a:t>
            </a:r>
            <a:r>
              <a:rPr lang="en-US" altLang="ja-JP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100</a:t>
            </a:r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万円稼ぎたければ</a:t>
            </a:r>
            <a:endParaRPr lang="en-US" altLang="ja-JP" sz="3600" dirty="0">
              <a:solidFill>
                <a:schemeClr val="dk1"/>
              </a:solidFill>
              <a:latin typeface="+mn-ea"/>
              <a:cs typeface="Calibri"/>
              <a:sym typeface="Calibri"/>
            </a:endParaRPr>
          </a:p>
          <a:p>
            <a:pPr lvl="0"/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　高単価商品を作ることが必要なことを</a:t>
            </a:r>
            <a:endParaRPr lang="en-US" altLang="ja-JP" sz="3600" dirty="0">
              <a:solidFill>
                <a:schemeClr val="dk1"/>
              </a:solidFill>
              <a:latin typeface="+mn-ea"/>
              <a:cs typeface="Calibri"/>
              <a:sym typeface="Calibri"/>
            </a:endParaRPr>
          </a:p>
          <a:p>
            <a:pPr lvl="0"/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　教えてもらう</a:t>
            </a:r>
            <a:endParaRPr lang="en-US" altLang="ja-JP" sz="3600" dirty="0">
              <a:solidFill>
                <a:schemeClr val="dk1"/>
              </a:solidFill>
              <a:latin typeface="+mn-ea"/>
              <a:cs typeface="Calibri"/>
              <a:sym typeface="Calibri"/>
            </a:endParaRPr>
          </a:p>
          <a:p>
            <a:pPr lvl="0"/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・月商</a:t>
            </a:r>
            <a:r>
              <a:rPr lang="en-US" altLang="ja-JP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100</a:t>
            </a:r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万円達成</a:t>
            </a:r>
            <a:endParaRPr lang="en-US" altLang="ja-JP" sz="3600" dirty="0">
              <a:solidFill>
                <a:schemeClr val="dk1"/>
              </a:solidFill>
              <a:latin typeface="+mn-ea"/>
              <a:cs typeface="Calibri"/>
              <a:sym typeface="Calibri"/>
            </a:endParaRPr>
          </a:p>
          <a:p>
            <a:pPr lvl="0"/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・</a:t>
            </a:r>
            <a:r>
              <a:rPr lang="en-US" altLang="ja-JP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5</a:t>
            </a:r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ヶ月で</a:t>
            </a:r>
            <a:r>
              <a:rPr lang="en-US" altLang="ja-JP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645</a:t>
            </a:r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万円の売上に</a:t>
            </a:r>
            <a:r>
              <a:rPr lang="en-US" altLang="ja-JP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! But</a:t>
            </a:r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・・・回収できない・・・</a:t>
            </a:r>
            <a:endParaRPr lang="en-US" altLang="ja-JP" sz="3600" dirty="0">
              <a:solidFill>
                <a:schemeClr val="dk1"/>
              </a:solidFill>
              <a:latin typeface="+mn-ea"/>
              <a:cs typeface="Calibri"/>
              <a:sym typeface="Calibri"/>
            </a:endParaRPr>
          </a:p>
          <a:p>
            <a:pPr lvl="0"/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　優良な見込客を集めないと</a:t>
            </a:r>
            <a:r>
              <a:rPr lang="en-US" altLang="ja-JP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!</a:t>
            </a:r>
          </a:p>
          <a:p>
            <a:pPr lvl="0"/>
            <a:endParaRPr lang="ja-JP" altLang="en-US" sz="3600" dirty="0">
              <a:solidFill>
                <a:schemeClr val="dk1"/>
              </a:solidFill>
              <a:latin typeface="+mn-ea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48670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/>
        </p:nvSpPr>
        <p:spPr>
          <a:xfrm>
            <a:off x="78743" y="1998155"/>
            <a:ext cx="12045782" cy="2922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・いろいろなマーケティング手法を学んで実践</a:t>
            </a:r>
          </a:p>
          <a:p>
            <a:pPr lvl="0"/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・優良な見込客が集まり売り込みなしで売れるように</a:t>
            </a:r>
            <a:endParaRPr lang="en-US" altLang="ja-JP" sz="3600" dirty="0">
              <a:solidFill>
                <a:schemeClr val="dk1"/>
              </a:solidFill>
              <a:latin typeface="+mn-ea"/>
              <a:cs typeface="Calibri"/>
              <a:sym typeface="Calibri"/>
            </a:endParaRPr>
          </a:p>
          <a:p>
            <a:pPr lvl="0"/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・もっと集客に困ってる方を直接サポートしたい</a:t>
            </a:r>
            <a:r>
              <a:rPr lang="en-US" altLang="ja-JP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!</a:t>
            </a:r>
          </a:p>
          <a:p>
            <a:pPr lvl="0"/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・誰でも実践できて再現性の高い集客方法を模索</a:t>
            </a:r>
            <a:endParaRPr lang="en-US" altLang="ja-JP" sz="3600" dirty="0">
              <a:solidFill>
                <a:schemeClr val="dk1"/>
              </a:solidFill>
              <a:latin typeface="+mn-ea"/>
              <a:cs typeface="Calibri"/>
              <a:sym typeface="Calibri"/>
            </a:endParaRPr>
          </a:p>
          <a:p>
            <a:pPr lvl="0"/>
            <a:r>
              <a:rPr lang="ja-JP" altLang="en-US" sz="36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・やっと出会ったのが・・・</a:t>
            </a:r>
          </a:p>
        </p:txBody>
      </p:sp>
    </p:spTree>
    <p:extLst>
      <p:ext uri="{BB962C8B-B14F-4D97-AF65-F5344CB8AC3E}">
        <p14:creationId xmlns:p14="http://schemas.microsoft.com/office/powerpoint/2010/main" val="363375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0" y="2648637"/>
            <a:ext cx="12191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9600" dirty="0">
                <a:solidFill>
                  <a:srgbClr val="E3022C"/>
                </a:solidFill>
                <a:latin typeface="+mn-ea"/>
              </a:rPr>
              <a:t>ライブ！</a:t>
            </a:r>
          </a:p>
        </p:txBody>
      </p:sp>
    </p:spTree>
    <p:extLst>
      <p:ext uri="{BB962C8B-B14F-4D97-AF65-F5344CB8AC3E}">
        <p14:creationId xmlns:p14="http://schemas.microsoft.com/office/powerpoint/2010/main" val="1004768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/>
          <p:nvPr/>
        </p:nvSpPr>
        <p:spPr>
          <a:xfrm>
            <a:off x="0" y="2586958"/>
            <a:ext cx="12191999" cy="1734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pPr algn="ctr"/>
            <a:r>
              <a:rPr lang="ja-JP" altLang="en-US" sz="5400" dirty="0">
                <a:latin typeface="+mn-ea"/>
                <a:cs typeface="ヒラギノ角ゴ Pro W3"/>
              </a:rPr>
              <a:t>当時、</a:t>
            </a:r>
            <a:r>
              <a:rPr lang="en-US" altLang="ja-JP" sz="5400" dirty="0">
                <a:latin typeface="+mn-ea"/>
                <a:cs typeface="ヒラギノ角ゴ Pro W3"/>
              </a:rPr>
              <a:t>Facebook</a:t>
            </a:r>
            <a:r>
              <a:rPr lang="ja-JP" altLang="en-US" sz="5400" dirty="0">
                <a:latin typeface="+mn-ea"/>
                <a:cs typeface="ヒラギノ角ゴ Pro W3"/>
              </a:rPr>
              <a:t>等で</a:t>
            </a:r>
            <a:endParaRPr lang="en-US" altLang="ja-JP" sz="5400" dirty="0">
              <a:latin typeface="+mn-ea"/>
              <a:cs typeface="ヒラギノ角ゴ Pro W3"/>
            </a:endParaRPr>
          </a:p>
          <a:p>
            <a:pPr algn="ctr"/>
            <a:r>
              <a:rPr lang="ja-JP" altLang="en-US" sz="5400" dirty="0">
                <a:latin typeface="+mn-ea"/>
                <a:cs typeface="ヒラギノ角ゴ Pro W3"/>
              </a:rPr>
              <a:t>ライブをしてる人もいたが・・・</a:t>
            </a:r>
          </a:p>
        </p:txBody>
      </p:sp>
    </p:spTree>
    <p:extLst>
      <p:ext uri="{BB962C8B-B14F-4D97-AF65-F5344CB8AC3E}">
        <p14:creationId xmlns:p14="http://schemas.microsoft.com/office/powerpoint/2010/main" val="1836923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/>
          <p:nvPr/>
        </p:nvSpPr>
        <p:spPr>
          <a:xfrm>
            <a:off x="0" y="2586958"/>
            <a:ext cx="12191999" cy="1734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pPr algn="ctr"/>
            <a:r>
              <a:rPr lang="ja-JP" altLang="en-US" sz="5400" dirty="0">
                <a:latin typeface="+mn-ea"/>
                <a:cs typeface="ヒラギノ角ゴ Pro W3"/>
              </a:rPr>
              <a:t>すごい先生が</a:t>
            </a:r>
            <a:endParaRPr lang="en-US" altLang="ja-JP" sz="5400" dirty="0">
              <a:latin typeface="+mn-ea"/>
              <a:cs typeface="ヒラギノ角ゴ Pro W3"/>
            </a:endParaRPr>
          </a:p>
          <a:p>
            <a:pPr algn="ctr"/>
            <a:r>
              <a:rPr lang="ja-JP" altLang="en-US" sz="5400" dirty="0">
                <a:latin typeface="+mn-ea"/>
                <a:cs typeface="ヒラギノ角ゴ Pro W3"/>
              </a:rPr>
              <a:t>すごいライブをやっていた</a:t>
            </a:r>
          </a:p>
        </p:txBody>
      </p:sp>
    </p:spTree>
    <p:extLst>
      <p:ext uri="{BB962C8B-B14F-4D97-AF65-F5344CB8AC3E}">
        <p14:creationId xmlns:p14="http://schemas.microsoft.com/office/powerpoint/2010/main" val="4293931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/>
          <p:nvPr/>
        </p:nvSpPr>
        <p:spPr>
          <a:xfrm>
            <a:off x="0" y="2586959"/>
            <a:ext cx="12191999" cy="1734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pPr algn="ctr"/>
            <a:r>
              <a:rPr lang="ja-JP" altLang="en-US" sz="5400" dirty="0">
                <a:latin typeface="+mn-ea"/>
                <a:cs typeface="ヒラギノ角ゴ Pro W3"/>
              </a:rPr>
              <a:t>「自分にはできないかも」</a:t>
            </a:r>
            <a:endParaRPr lang="en-US" altLang="ja-JP" sz="5400" dirty="0">
              <a:latin typeface="+mn-ea"/>
              <a:cs typeface="ヒラギノ角ゴ Pro W3"/>
            </a:endParaRPr>
          </a:p>
          <a:p>
            <a:pPr algn="ctr"/>
            <a:r>
              <a:rPr lang="ja-JP" altLang="en-US" sz="5400" dirty="0">
                <a:latin typeface="+mn-ea"/>
                <a:cs typeface="ヒラギノ角ゴ Pro W3"/>
              </a:rPr>
              <a:t>と思ったが・・・</a:t>
            </a:r>
          </a:p>
        </p:txBody>
      </p:sp>
    </p:spTree>
    <p:extLst>
      <p:ext uri="{BB962C8B-B14F-4D97-AF65-F5344CB8AC3E}">
        <p14:creationId xmlns:p14="http://schemas.microsoft.com/office/powerpoint/2010/main" val="2792402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/>
          <p:nvPr/>
        </p:nvSpPr>
        <p:spPr>
          <a:xfrm>
            <a:off x="0" y="2586959"/>
            <a:ext cx="12191999" cy="1734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pPr algn="ctr"/>
            <a:r>
              <a:rPr lang="ja-JP" altLang="en-US" sz="5400" dirty="0">
                <a:latin typeface="+mn-ea"/>
                <a:cs typeface="ヒラギノ角ゴ Pro W3"/>
              </a:rPr>
              <a:t>ダメ元で</a:t>
            </a:r>
            <a:endParaRPr lang="en-US" altLang="ja-JP" sz="5400" dirty="0">
              <a:latin typeface="+mn-ea"/>
              <a:cs typeface="ヒラギノ角ゴ Pro W3"/>
            </a:endParaRPr>
          </a:p>
          <a:p>
            <a:pPr algn="ctr"/>
            <a:r>
              <a:rPr lang="ja-JP" altLang="en-US" sz="5400" dirty="0">
                <a:latin typeface="+mn-ea"/>
                <a:cs typeface="ヒラギノ角ゴ Pro W3"/>
              </a:rPr>
              <a:t>力を抜いてやってみた</a:t>
            </a:r>
          </a:p>
        </p:txBody>
      </p:sp>
    </p:spTree>
    <p:extLst>
      <p:ext uri="{BB962C8B-B14F-4D97-AF65-F5344CB8AC3E}">
        <p14:creationId xmlns:p14="http://schemas.microsoft.com/office/powerpoint/2010/main" val="3160961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/>
          <p:nvPr/>
        </p:nvSpPr>
        <p:spPr>
          <a:xfrm>
            <a:off x="0" y="2910124"/>
            <a:ext cx="12191999" cy="1087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pPr algn="ctr"/>
            <a:r>
              <a:rPr lang="ja-JP" altLang="en-US" sz="6600" dirty="0">
                <a:latin typeface="+mn-ea"/>
                <a:cs typeface="ヒラギノ角ゴ Pro W3"/>
              </a:rPr>
              <a:t>それでも結果が出た！</a:t>
            </a:r>
          </a:p>
        </p:txBody>
      </p:sp>
    </p:spTree>
    <p:extLst>
      <p:ext uri="{BB962C8B-B14F-4D97-AF65-F5344CB8AC3E}">
        <p14:creationId xmlns:p14="http://schemas.microsoft.com/office/powerpoint/2010/main" val="4004986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/>
          <p:nvPr/>
        </p:nvSpPr>
        <p:spPr>
          <a:xfrm>
            <a:off x="0" y="1894463"/>
            <a:ext cx="12191999" cy="3119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pPr algn="ctr"/>
            <a:r>
              <a:rPr lang="en-US" altLang="ja-JP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Facebook</a:t>
            </a: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グループに集客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ヒラギノ角ゴ Pro W3"/>
            </a:endParaRPr>
          </a:p>
          <a:p>
            <a:pPr algn="ctr"/>
            <a:r>
              <a:rPr lang="en-US" altLang="ja-JP" sz="6600" dirty="0">
                <a:solidFill>
                  <a:srgbClr val="E3022C"/>
                </a:solidFill>
                <a:latin typeface="+mn-ea"/>
                <a:cs typeface="ヒラギノ角ゴ Pro W3"/>
              </a:rPr>
              <a:t>3</a:t>
            </a:r>
            <a:r>
              <a:rPr lang="ja-JP" altLang="en-US" sz="6600" dirty="0">
                <a:solidFill>
                  <a:srgbClr val="E3022C"/>
                </a:solidFill>
                <a:latin typeface="+mn-ea"/>
                <a:cs typeface="ヒラギノ角ゴ Pro W3"/>
              </a:rPr>
              <a:t>週間で</a:t>
            </a:r>
            <a:r>
              <a:rPr lang="en-US" altLang="ja-JP" sz="6600" dirty="0">
                <a:solidFill>
                  <a:srgbClr val="E3022C"/>
                </a:solidFill>
                <a:latin typeface="+mn-ea"/>
                <a:cs typeface="ヒラギノ角ゴ Pro W3"/>
              </a:rPr>
              <a:t>70</a:t>
            </a:r>
            <a:r>
              <a:rPr lang="ja-JP" altLang="en-US" sz="6600" dirty="0">
                <a:solidFill>
                  <a:srgbClr val="E3022C"/>
                </a:solidFill>
                <a:latin typeface="+mn-ea"/>
                <a:cs typeface="ヒラギノ角ゴ Pro W3"/>
              </a:rPr>
              <a:t>人</a:t>
            </a:r>
            <a:r>
              <a:rPr lang="ja-JP" altLang="en-US" sz="6600" dirty="0">
                <a:latin typeface="+mn-ea"/>
                <a:cs typeface="ヒラギノ角ゴ Pro W3"/>
              </a:rPr>
              <a:t>集客できて</a:t>
            </a:r>
            <a:endParaRPr lang="en-US" altLang="ja-JP" sz="6600" dirty="0">
              <a:latin typeface="+mn-ea"/>
              <a:cs typeface="ヒラギノ角ゴ Pro W3"/>
            </a:endParaRPr>
          </a:p>
          <a:p>
            <a:pPr algn="ctr"/>
            <a:r>
              <a:rPr lang="en-US" altLang="ja-JP" sz="6600" dirty="0">
                <a:solidFill>
                  <a:srgbClr val="E3022C"/>
                </a:solidFill>
                <a:latin typeface="+mn-ea"/>
                <a:cs typeface="ヒラギノ角ゴ Pro W3"/>
              </a:rPr>
              <a:t>100</a:t>
            </a:r>
            <a:r>
              <a:rPr lang="ja-JP" altLang="en-US" sz="6600" dirty="0">
                <a:solidFill>
                  <a:srgbClr val="E3022C"/>
                </a:solidFill>
                <a:latin typeface="+mn-ea"/>
                <a:cs typeface="ヒラギノ角ゴ Pro W3"/>
              </a:rPr>
              <a:t>万円</a:t>
            </a:r>
            <a:r>
              <a:rPr lang="ja-JP" altLang="en-US" sz="6600" dirty="0">
                <a:latin typeface="+mn-ea"/>
                <a:cs typeface="ヒラギノ角ゴ Pro W3"/>
              </a:rPr>
              <a:t>の売上</a:t>
            </a:r>
          </a:p>
        </p:txBody>
      </p:sp>
    </p:spTree>
    <p:extLst>
      <p:ext uri="{BB962C8B-B14F-4D97-AF65-F5344CB8AC3E}">
        <p14:creationId xmlns:p14="http://schemas.microsoft.com/office/powerpoint/2010/main" val="4061680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/>
          <p:nvPr/>
        </p:nvSpPr>
        <p:spPr>
          <a:xfrm>
            <a:off x="0" y="1894462"/>
            <a:ext cx="12191999" cy="3119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pPr algn="ctr"/>
            <a:r>
              <a:rPr lang="en-US" altLang="ja-JP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LINE</a:t>
            </a: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公式アカウントに集客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ヒラギノ角ゴ Pro W3"/>
            </a:endParaRPr>
          </a:p>
          <a:p>
            <a:pPr algn="ctr"/>
            <a:r>
              <a:rPr lang="en-US" altLang="ja-JP" sz="6600" dirty="0">
                <a:solidFill>
                  <a:srgbClr val="E3022C"/>
                </a:solidFill>
                <a:latin typeface="+mn-ea"/>
                <a:cs typeface="ヒラギノ角ゴ Pro W3"/>
              </a:rPr>
              <a:t>3</a:t>
            </a:r>
            <a:r>
              <a:rPr lang="ja-JP" altLang="en-US" sz="6600" dirty="0">
                <a:solidFill>
                  <a:srgbClr val="E3022C"/>
                </a:solidFill>
                <a:latin typeface="+mn-ea"/>
                <a:cs typeface="ヒラギノ角ゴ Pro W3"/>
              </a:rPr>
              <a:t>週間で</a:t>
            </a:r>
            <a:r>
              <a:rPr lang="en-US" altLang="ja-JP" sz="6600" dirty="0">
                <a:solidFill>
                  <a:srgbClr val="E3022C"/>
                </a:solidFill>
                <a:latin typeface="+mn-ea"/>
                <a:cs typeface="ヒラギノ角ゴ Pro W3"/>
              </a:rPr>
              <a:t>100</a:t>
            </a:r>
            <a:r>
              <a:rPr lang="ja-JP" altLang="en-US" sz="6600" dirty="0">
                <a:solidFill>
                  <a:srgbClr val="E3022C"/>
                </a:solidFill>
                <a:latin typeface="+mn-ea"/>
                <a:cs typeface="ヒラギノ角ゴ Pro W3"/>
              </a:rPr>
              <a:t>人</a:t>
            </a:r>
            <a:r>
              <a:rPr lang="ja-JP" altLang="en-US" sz="6600" dirty="0">
                <a:latin typeface="+mn-ea"/>
                <a:cs typeface="ヒラギノ角ゴ Pro W3"/>
              </a:rPr>
              <a:t>集客できて</a:t>
            </a:r>
            <a:endParaRPr lang="en-US" altLang="ja-JP" sz="6600" dirty="0">
              <a:latin typeface="+mn-ea"/>
              <a:cs typeface="ヒラギノ角ゴ Pro W3"/>
            </a:endParaRPr>
          </a:p>
          <a:p>
            <a:pPr algn="ctr"/>
            <a:r>
              <a:rPr lang="en-US" altLang="ja-JP" sz="6600" dirty="0">
                <a:solidFill>
                  <a:srgbClr val="E3022C"/>
                </a:solidFill>
                <a:latin typeface="+mn-ea"/>
                <a:cs typeface="ヒラギノ角ゴ Pro W3"/>
              </a:rPr>
              <a:t>120</a:t>
            </a:r>
            <a:r>
              <a:rPr lang="ja-JP" altLang="en-US" sz="6600" dirty="0">
                <a:solidFill>
                  <a:srgbClr val="E3022C"/>
                </a:solidFill>
                <a:latin typeface="+mn-ea"/>
                <a:cs typeface="ヒラギノ角ゴ Pro W3"/>
              </a:rPr>
              <a:t>万円</a:t>
            </a:r>
            <a:r>
              <a:rPr lang="ja-JP" altLang="en-US" sz="6600" dirty="0">
                <a:latin typeface="+mn-ea"/>
                <a:cs typeface="ヒラギノ角ゴ Pro W3"/>
              </a:rPr>
              <a:t>の売上</a:t>
            </a:r>
          </a:p>
        </p:txBody>
      </p:sp>
    </p:spTree>
    <p:extLst>
      <p:ext uri="{BB962C8B-B14F-4D97-AF65-F5344CB8AC3E}">
        <p14:creationId xmlns:p14="http://schemas.microsoft.com/office/powerpoint/2010/main" val="2100535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/>
          <p:nvPr/>
        </p:nvSpPr>
        <p:spPr>
          <a:xfrm>
            <a:off x="0" y="1894462"/>
            <a:ext cx="12191999" cy="3119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pPr algn="ctr"/>
            <a:r>
              <a:rPr lang="en-US" altLang="ja-JP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Facebook</a:t>
            </a: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グループに集客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ヒラギノ角ゴ Pro W3"/>
            </a:endParaRPr>
          </a:p>
          <a:p>
            <a:pPr algn="ctr"/>
            <a:r>
              <a:rPr lang="en-US" altLang="ja-JP" sz="6600" dirty="0">
                <a:solidFill>
                  <a:srgbClr val="E3022C"/>
                </a:solidFill>
                <a:latin typeface="+mn-ea"/>
                <a:cs typeface="ヒラギノ角ゴ Pro W3"/>
              </a:rPr>
              <a:t>1</a:t>
            </a:r>
            <a:r>
              <a:rPr lang="ja-JP" altLang="en-US" sz="6600" dirty="0">
                <a:solidFill>
                  <a:srgbClr val="E3022C"/>
                </a:solidFill>
                <a:latin typeface="+mn-ea"/>
                <a:cs typeface="ヒラギノ角ゴ Pro W3"/>
              </a:rPr>
              <a:t>週間で</a:t>
            </a:r>
            <a:r>
              <a:rPr lang="en-US" altLang="ja-JP" sz="6600" dirty="0">
                <a:solidFill>
                  <a:srgbClr val="E3022C"/>
                </a:solidFill>
                <a:latin typeface="+mn-ea"/>
                <a:cs typeface="ヒラギノ角ゴ Pro W3"/>
              </a:rPr>
              <a:t>95</a:t>
            </a:r>
            <a:r>
              <a:rPr lang="ja-JP" altLang="en-US" sz="6600" dirty="0">
                <a:solidFill>
                  <a:srgbClr val="E3022C"/>
                </a:solidFill>
                <a:latin typeface="+mn-ea"/>
                <a:cs typeface="ヒラギノ角ゴ Pro W3"/>
              </a:rPr>
              <a:t>人</a:t>
            </a:r>
            <a:r>
              <a:rPr lang="ja-JP" altLang="en-US" sz="6600" dirty="0">
                <a:latin typeface="+mn-ea"/>
                <a:cs typeface="ヒラギノ角ゴ Pro W3"/>
              </a:rPr>
              <a:t>集客できて</a:t>
            </a:r>
            <a:endParaRPr lang="en-US" altLang="ja-JP" sz="6600" dirty="0">
              <a:latin typeface="+mn-ea"/>
              <a:cs typeface="ヒラギノ角ゴ Pro W3"/>
            </a:endParaRPr>
          </a:p>
          <a:p>
            <a:pPr algn="ctr"/>
            <a:r>
              <a:rPr lang="en-US" altLang="ja-JP" sz="6600" dirty="0">
                <a:solidFill>
                  <a:srgbClr val="E3022C"/>
                </a:solidFill>
                <a:latin typeface="+mn-ea"/>
                <a:cs typeface="ヒラギノ角ゴ Pro W3"/>
              </a:rPr>
              <a:t>230</a:t>
            </a:r>
            <a:r>
              <a:rPr lang="ja-JP" altLang="en-US" sz="6600" dirty="0">
                <a:solidFill>
                  <a:srgbClr val="E3022C"/>
                </a:solidFill>
                <a:latin typeface="+mn-ea"/>
                <a:cs typeface="ヒラギノ角ゴ Pro W3"/>
              </a:rPr>
              <a:t>万円</a:t>
            </a:r>
            <a:r>
              <a:rPr lang="ja-JP" altLang="en-US" sz="6600" dirty="0">
                <a:latin typeface="+mn-ea"/>
                <a:cs typeface="ヒラギノ角ゴ Pro W3"/>
              </a:rPr>
              <a:t>の売上</a:t>
            </a:r>
          </a:p>
        </p:txBody>
      </p:sp>
    </p:spTree>
    <p:extLst>
      <p:ext uri="{BB962C8B-B14F-4D97-AF65-F5344CB8AC3E}">
        <p14:creationId xmlns:p14="http://schemas.microsoft.com/office/powerpoint/2010/main" val="1034313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/>
          <p:nvPr/>
        </p:nvSpPr>
        <p:spPr>
          <a:xfrm>
            <a:off x="0" y="2910124"/>
            <a:ext cx="12191999" cy="1087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pPr algn="ctr"/>
            <a:r>
              <a:rPr lang="ja-JP" altLang="en-US" sz="6600" dirty="0">
                <a:latin typeface="+mn-ea"/>
                <a:cs typeface="ヒラギノ角ゴ Pro W3"/>
              </a:rPr>
              <a:t>人に教えてみたら・・・</a:t>
            </a:r>
          </a:p>
        </p:txBody>
      </p:sp>
    </p:spTree>
    <p:extLst>
      <p:ext uri="{BB962C8B-B14F-4D97-AF65-F5344CB8AC3E}">
        <p14:creationId xmlns:p14="http://schemas.microsoft.com/office/powerpoint/2010/main" val="3897082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573" y="-2548"/>
            <a:ext cx="9084813" cy="685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0760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718" y="970"/>
            <a:ext cx="10588061" cy="685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1481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737" y="-3024"/>
            <a:ext cx="10588891" cy="685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310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-3186"/>
            <a:ext cx="9448800" cy="6864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5659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308" y="12777"/>
            <a:ext cx="9613328" cy="684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477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30" y="-432"/>
            <a:ext cx="10601740" cy="685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0618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78" y="15080"/>
            <a:ext cx="10651716" cy="684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6367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34" y="12128"/>
            <a:ext cx="10567453" cy="6845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9540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57" y="15726"/>
            <a:ext cx="10612881" cy="684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5617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/>
          <p:nvPr/>
        </p:nvSpPr>
        <p:spPr>
          <a:xfrm>
            <a:off x="1876769" y="2402300"/>
            <a:ext cx="8557535" cy="2103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0" tIns="35710" rIns="35710" bIns="35710" anchor="ctr">
            <a:spAutoFit/>
          </a:bodyPr>
          <a:lstStyle/>
          <a:p>
            <a:pPr algn="ctr"/>
            <a:r>
              <a:rPr lang="ja-JP" altLang="en-US" sz="6600" dirty="0">
                <a:latin typeface="+mn-ea"/>
                <a:cs typeface="ヒラギノ角ゴ Pro W3"/>
              </a:rPr>
              <a:t>ここであなたに</a:t>
            </a:r>
            <a:br>
              <a:rPr lang="en-US" altLang="ja-JP" sz="6600" dirty="0">
                <a:latin typeface="+mn-ea"/>
                <a:cs typeface="ヒラギノ角ゴ Pro W3"/>
              </a:rPr>
            </a:br>
            <a:r>
              <a:rPr lang="ja-JP" altLang="en-US" sz="6600" dirty="0">
                <a:latin typeface="+mn-ea"/>
                <a:cs typeface="ヒラギノ角ゴ Pro W3"/>
              </a:rPr>
              <a:t>質問です。</a:t>
            </a:r>
          </a:p>
        </p:txBody>
      </p:sp>
    </p:spTree>
    <p:extLst>
      <p:ext uri="{BB962C8B-B14F-4D97-AF65-F5344CB8AC3E}">
        <p14:creationId xmlns:p14="http://schemas.microsoft.com/office/powerpoint/2010/main" val="2297013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/>
          <p:nvPr/>
        </p:nvSpPr>
        <p:spPr>
          <a:xfrm>
            <a:off x="1876769" y="2816000"/>
            <a:ext cx="8557535" cy="851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0" tIns="35710" rIns="35710" bIns="35710" anchor="ctr">
            <a:spAutoFit/>
          </a:bodyPr>
          <a:lstStyle/>
          <a:p>
            <a:pPr algn="ctr"/>
            <a:endParaRPr lang="en-US" altLang="ja-JP" sz="5063" dirty="0">
              <a:latin typeface="ヒラギノ角ゴ Pro W3"/>
              <a:ea typeface="ヒラギノ角ゴ Pro W3"/>
              <a:cs typeface="ヒラギノ角ゴ Pro W3"/>
            </a:endParaRPr>
          </a:p>
        </p:txBody>
      </p:sp>
      <p:sp>
        <p:nvSpPr>
          <p:cNvPr id="3" name="Shape 381"/>
          <p:cNvSpPr/>
          <p:nvPr/>
        </p:nvSpPr>
        <p:spPr>
          <a:xfrm>
            <a:off x="1" y="1851689"/>
            <a:ext cx="12192000" cy="3119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ja-JP" altLang="en-US" sz="6600" dirty="0">
                <a:latin typeface="+mn-ea"/>
                <a:cs typeface="ヒラギノ角ゴ Pro W3"/>
              </a:rPr>
              <a:t>質問１</a:t>
            </a:r>
            <a:endParaRPr lang="en-US" altLang="ja-JP" sz="6600" dirty="0">
              <a:latin typeface="+mn-ea"/>
              <a:cs typeface="ヒラギノ角ゴ Pro W3"/>
            </a:endParaRPr>
          </a:p>
          <a:p>
            <a:pPr algn="ctr">
              <a:lnSpc>
                <a:spcPct val="150000"/>
              </a:lnSpc>
            </a:pPr>
            <a:r>
              <a:rPr lang="ja-JP" altLang="en-US" sz="6600" dirty="0">
                <a:latin typeface="+mn-ea"/>
                <a:cs typeface="ヒラギノ角ゴ Pro W3"/>
              </a:rPr>
              <a:t>あなたの半年後の目標は？</a:t>
            </a:r>
            <a:endParaRPr lang="en-US" altLang="ja-JP" sz="6600" dirty="0">
              <a:latin typeface="+mn-ea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728119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/>
          <p:nvPr/>
        </p:nvSpPr>
        <p:spPr>
          <a:xfrm>
            <a:off x="1876769" y="2816000"/>
            <a:ext cx="8557535" cy="851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0" tIns="35710" rIns="35710" bIns="35710" anchor="ctr">
            <a:spAutoFit/>
          </a:bodyPr>
          <a:lstStyle/>
          <a:p>
            <a:pPr algn="ctr"/>
            <a:endParaRPr lang="en-US" altLang="ja-JP" sz="5063" dirty="0">
              <a:latin typeface="ヒラギノ角ゴ Pro W3"/>
              <a:ea typeface="ヒラギノ角ゴ Pro W3"/>
              <a:cs typeface="ヒラギノ角ゴ Pro W3"/>
            </a:endParaRPr>
          </a:p>
        </p:txBody>
      </p:sp>
      <p:sp>
        <p:nvSpPr>
          <p:cNvPr id="3" name="Shape 381"/>
          <p:cNvSpPr/>
          <p:nvPr/>
        </p:nvSpPr>
        <p:spPr>
          <a:xfrm>
            <a:off x="1" y="1851689"/>
            <a:ext cx="12192000" cy="3119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ja-JP" altLang="en-US" sz="6600" dirty="0">
                <a:latin typeface="+mn-ea"/>
                <a:cs typeface="ヒラギノ角ゴ Pro W3"/>
              </a:rPr>
              <a:t>質問２</a:t>
            </a:r>
            <a:endParaRPr lang="en-US" altLang="ja-JP" sz="6600" dirty="0">
              <a:latin typeface="+mn-ea"/>
              <a:cs typeface="ヒラギノ角ゴ Pro W3"/>
            </a:endParaRPr>
          </a:p>
          <a:p>
            <a:pPr algn="ctr">
              <a:lnSpc>
                <a:spcPct val="150000"/>
              </a:lnSpc>
            </a:pPr>
            <a:r>
              <a:rPr lang="ja-JP" altLang="en-US" sz="6600" dirty="0">
                <a:latin typeface="+mn-ea"/>
                <a:cs typeface="ヒラギノ角ゴ Pro W3"/>
              </a:rPr>
              <a:t>目標に対する現状の課題は？</a:t>
            </a:r>
            <a:endParaRPr lang="en-US" altLang="ja-JP" sz="6600" dirty="0">
              <a:latin typeface="+mn-ea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641955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/>
          <p:nvPr/>
        </p:nvSpPr>
        <p:spPr>
          <a:xfrm>
            <a:off x="1822981" y="1597773"/>
            <a:ext cx="8557535" cy="3626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0" tIns="35710" rIns="35710" bIns="3571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ja-JP" altLang="en-US" sz="6600" dirty="0">
                <a:latin typeface="+mn-ea"/>
                <a:cs typeface="ヒラギノ角ゴ Pro W3"/>
              </a:rPr>
              <a:t>質問３</a:t>
            </a:r>
            <a:endParaRPr lang="en-US" altLang="ja-JP" sz="6600" dirty="0">
              <a:latin typeface="+mn-ea"/>
              <a:cs typeface="ヒラギノ角ゴ Pro W3"/>
            </a:endParaRPr>
          </a:p>
          <a:p>
            <a:pPr algn="ctr"/>
            <a:r>
              <a:rPr lang="ja-JP" altLang="en-US" sz="6600" dirty="0">
                <a:latin typeface="+mn-ea"/>
                <a:cs typeface="ヒラギノ角ゴ Pro W3"/>
              </a:rPr>
              <a:t>課題をクリアしないと</a:t>
            </a:r>
            <a:endParaRPr lang="en-US" altLang="ja-JP" sz="6600" dirty="0">
              <a:latin typeface="+mn-ea"/>
              <a:cs typeface="ヒラギノ角ゴ Pro W3"/>
            </a:endParaRPr>
          </a:p>
          <a:p>
            <a:pPr algn="ctr"/>
            <a:r>
              <a:rPr lang="ja-JP" altLang="en-US" sz="6600" dirty="0">
                <a:latin typeface="+mn-ea"/>
                <a:cs typeface="ヒラギノ角ゴ Pro W3"/>
              </a:rPr>
              <a:t>どうなりますか？</a:t>
            </a:r>
            <a:endParaRPr lang="en-US" altLang="ja-JP" sz="6600" dirty="0">
              <a:latin typeface="+mn-ea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1323955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81"/>
          <p:cNvSpPr/>
          <p:nvPr/>
        </p:nvSpPr>
        <p:spPr>
          <a:xfrm>
            <a:off x="1219043" y="1877167"/>
            <a:ext cx="9753757" cy="3119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pPr algn="ctr"/>
            <a:r>
              <a:rPr lang="ja-JP" altLang="en-US" sz="6600" dirty="0">
                <a:latin typeface="+mn-ea"/>
                <a:cs typeface="ヒラギノ角ゴ Pro W3"/>
              </a:rPr>
              <a:t>改めて</a:t>
            </a:r>
            <a:endParaRPr lang="en-US" altLang="ja-JP" sz="6600" dirty="0">
              <a:latin typeface="+mn-ea"/>
              <a:cs typeface="ヒラギノ角ゴ Pro W3"/>
            </a:endParaRPr>
          </a:p>
          <a:p>
            <a:pPr algn="ctr"/>
            <a:r>
              <a:rPr lang="ja-JP" altLang="en-US" sz="6600" dirty="0">
                <a:latin typeface="+mn-ea"/>
                <a:cs typeface="ヒラギノ角ゴ Pro W3"/>
              </a:rPr>
              <a:t>考えてみて欲しいことが</a:t>
            </a:r>
            <a:endParaRPr lang="en-US" altLang="ja-JP" sz="6600" dirty="0">
              <a:latin typeface="+mn-ea"/>
              <a:cs typeface="ヒラギノ角ゴ Pro W3"/>
            </a:endParaRPr>
          </a:p>
          <a:p>
            <a:pPr algn="ctr"/>
            <a:r>
              <a:rPr lang="ja-JP" altLang="en-US" sz="6600" dirty="0">
                <a:latin typeface="+mn-ea"/>
                <a:cs typeface="ヒラギノ角ゴ Pro W3"/>
              </a:rPr>
              <a:t>あります</a:t>
            </a:r>
            <a:endParaRPr lang="en-US" altLang="ja-JP" sz="6600" dirty="0">
              <a:latin typeface="+mn-ea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1702306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0" y="1528285"/>
            <a:ext cx="1219199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6000" dirty="0">
                <a:latin typeface="+mn-ea"/>
              </a:rPr>
              <a:t>なぜ、多くの</a:t>
            </a:r>
            <a:endParaRPr lang="en-US" altLang="ja-JP" sz="6000" dirty="0">
              <a:latin typeface="+mn-ea"/>
            </a:endParaRPr>
          </a:p>
          <a:p>
            <a:pPr algn="ctr"/>
            <a:r>
              <a:rPr lang="ja-JP" altLang="en-US" sz="6000" dirty="0">
                <a:latin typeface="+mn-ea"/>
              </a:rPr>
              <a:t>ひとり起業家、先生業は</a:t>
            </a:r>
          </a:p>
          <a:p>
            <a:pPr algn="ctr"/>
            <a:r>
              <a:rPr lang="ja-JP" altLang="en-US" sz="6000" dirty="0">
                <a:latin typeface="+mn-ea"/>
              </a:rPr>
              <a:t>集客・売上に伸び悩む？</a:t>
            </a:r>
          </a:p>
          <a:p>
            <a:pPr algn="ctr"/>
            <a:r>
              <a:rPr lang="ja-JP" altLang="en-US" sz="6000" dirty="0">
                <a:latin typeface="+mn-ea"/>
              </a:rPr>
              <a:t>その根本的な原因は？</a:t>
            </a:r>
          </a:p>
        </p:txBody>
      </p:sp>
    </p:spTree>
    <p:extLst>
      <p:ext uri="{BB962C8B-B14F-4D97-AF65-F5344CB8AC3E}">
        <p14:creationId xmlns:p14="http://schemas.microsoft.com/office/powerpoint/2010/main" val="30149374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685657" y="2860840"/>
            <a:ext cx="108180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6600" dirty="0">
                <a:latin typeface="+mn-ea"/>
              </a:rPr>
              <a:t>考えてみてください</a:t>
            </a:r>
            <a:endParaRPr kumimoji="1" lang="ja-JP" altLang="en-US" sz="6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677064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/>
          <p:nvPr/>
        </p:nvSpPr>
        <p:spPr>
          <a:xfrm>
            <a:off x="1817233" y="2377283"/>
            <a:ext cx="8557535" cy="2103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0" tIns="35710" rIns="35710" bIns="35710" anchor="ctr">
            <a:spAutoFit/>
          </a:bodyPr>
          <a:lstStyle/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ヒラギノ角ゴ Pro W3"/>
              </a:rPr>
              <a:t>あなたなりの答えを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  <a:cs typeface="ヒラギノ角ゴ Pro W3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ヒラギノ角ゴ Pro W3"/>
              </a:rPr>
              <a:t>教えてください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1529626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/>
          <p:nvPr/>
        </p:nvSpPr>
        <p:spPr>
          <a:xfrm>
            <a:off x="0" y="1361621"/>
            <a:ext cx="12191999" cy="4134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ヒラギノ角ゴ Pro W3"/>
              </a:rPr>
              <a:t>それが解決されないこと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  <a:cs typeface="ヒラギノ角ゴ Pro W3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ヒラギノ角ゴ Pro W3"/>
              </a:rPr>
              <a:t>によって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  <a:cs typeface="ヒラギノ角ゴ Pro W3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ヒラギノ角ゴ Pro W3"/>
              </a:rPr>
              <a:t>どんな悪影響が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  <a:cs typeface="ヒラギノ角ゴ Pro W3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ヒラギノ角ゴ Pro W3"/>
              </a:rPr>
              <a:t>発生しますか？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3741461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/>
          <p:nvPr/>
        </p:nvSpPr>
        <p:spPr>
          <a:xfrm>
            <a:off x="1817233" y="2885118"/>
            <a:ext cx="8557535" cy="1087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0" tIns="35710" rIns="35710" bIns="35710" anchor="ctr">
            <a:spAutoFit/>
          </a:bodyPr>
          <a:lstStyle/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究極的な原因は２つ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823667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/>
          <p:nvPr/>
        </p:nvSpPr>
        <p:spPr>
          <a:xfrm>
            <a:off x="1" y="1176957"/>
            <a:ext cx="12192000" cy="4504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en-US" altLang="ja-JP" sz="7200" dirty="0">
                <a:solidFill>
                  <a:srgbClr val="E3022C"/>
                </a:solidFill>
                <a:latin typeface="+mn-ea"/>
                <a:cs typeface="ヒラギノ角ゴ Pro W3"/>
              </a:rPr>
              <a:t>1. </a:t>
            </a:r>
            <a:r>
              <a:rPr lang="ja-JP" altLang="en-US" sz="7200" dirty="0">
                <a:solidFill>
                  <a:srgbClr val="E3022C"/>
                </a:solidFill>
                <a:latin typeface="+mn-ea"/>
                <a:cs typeface="ヒラギノ角ゴ Pro W3"/>
              </a:rPr>
              <a:t>選ばれるための</a:t>
            </a:r>
            <a:endParaRPr lang="en-US" altLang="ja-JP" sz="7200" dirty="0">
              <a:solidFill>
                <a:srgbClr val="E3022C"/>
              </a:solidFill>
              <a:latin typeface="+mn-ea"/>
              <a:cs typeface="ヒラギノ角ゴ Pro W3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7200" dirty="0">
                <a:solidFill>
                  <a:srgbClr val="E3022C"/>
                </a:solidFill>
                <a:latin typeface="+mn-ea"/>
                <a:cs typeface="ヒラギノ角ゴ Pro W3"/>
              </a:rPr>
              <a:t>絶対戦略がない</a:t>
            </a:r>
            <a:endParaRPr lang="en-US" altLang="ja-JP" sz="7200" dirty="0">
              <a:solidFill>
                <a:srgbClr val="E3022C"/>
              </a:solidFill>
              <a:latin typeface="+mn-ea"/>
              <a:cs typeface="ヒラギノ角ゴ Pro W3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en-US" altLang="ja-JP" sz="7200" dirty="0">
                <a:solidFill>
                  <a:srgbClr val="E3022C"/>
                </a:solidFill>
                <a:latin typeface="+mn-ea"/>
                <a:cs typeface="ヒラギノ角ゴ Pro W3"/>
              </a:rPr>
              <a:t>2. </a:t>
            </a:r>
            <a:r>
              <a:rPr lang="ja-JP" altLang="en-US" sz="7200" dirty="0">
                <a:solidFill>
                  <a:srgbClr val="E3022C"/>
                </a:solidFill>
                <a:latin typeface="+mn-ea"/>
                <a:cs typeface="ヒラギノ角ゴ Pro W3"/>
              </a:rPr>
              <a:t>集客から売上につながる</a:t>
            </a:r>
            <a:endParaRPr lang="en-US" altLang="ja-JP" sz="7200" dirty="0">
              <a:solidFill>
                <a:srgbClr val="E3022C"/>
              </a:solidFill>
              <a:latin typeface="+mn-ea"/>
              <a:cs typeface="ヒラギノ角ゴ Pro W3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7200" dirty="0">
                <a:solidFill>
                  <a:srgbClr val="E3022C"/>
                </a:solidFill>
                <a:latin typeface="+mn-ea"/>
                <a:cs typeface="ヒラギノ角ゴ Pro W3"/>
              </a:rPr>
              <a:t>集客導線がない</a:t>
            </a:r>
            <a:endParaRPr lang="en-US" altLang="ja-JP" sz="7200" dirty="0">
              <a:solidFill>
                <a:srgbClr val="E3022C"/>
              </a:solidFill>
              <a:latin typeface="+mn-ea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3011644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/>
          <p:nvPr/>
        </p:nvSpPr>
        <p:spPr>
          <a:xfrm>
            <a:off x="1" y="2284952"/>
            <a:ext cx="12192000" cy="2288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en-US" altLang="ja-JP" sz="72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1. </a:t>
            </a:r>
            <a:r>
              <a:rPr lang="ja-JP" altLang="en-US" sz="72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選ばれるための</a:t>
            </a:r>
            <a:endParaRPr lang="en-US" altLang="ja-JP" sz="72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ヒラギノ角ゴ Pro W3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72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絶対戦略がない</a:t>
            </a:r>
            <a:endParaRPr lang="en-US" altLang="ja-JP" sz="72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649049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/>
          <p:nvPr/>
        </p:nvSpPr>
        <p:spPr>
          <a:xfrm>
            <a:off x="753465" y="2039879"/>
            <a:ext cx="10694821" cy="4811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pPr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・日本には現在、</a:t>
            </a:r>
            <a:r>
              <a:rPr lang="en-US" altLang="ja-JP" sz="4400" dirty="0">
                <a:solidFill>
                  <a:srgbClr val="E3022C"/>
                </a:solidFill>
                <a:latin typeface="+mn-ea"/>
                <a:cs typeface="ヒラギノ角ゴ Pro W3"/>
              </a:rPr>
              <a:t>1000</a:t>
            </a:r>
            <a:r>
              <a:rPr lang="ja-JP" altLang="en-US" sz="4400" dirty="0">
                <a:solidFill>
                  <a:srgbClr val="E3022C"/>
                </a:solidFill>
                <a:latin typeface="+mn-ea"/>
                <a:cs typeface="ヒラギノ角ゴ Pro W3"/>
              </a:rPr>
              <a:t>万人余り</a:t>
            </a:r>
            <a:r>
              <a:rPr lang="ja-JP" alt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のフリーランス</a:t>
            </a:r>
            <a:endParaRPr lang="en-US" altLang="ja-JP" sz="44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ヒラギノ角ゴ Pro W3"/>
            </a:endParaRPr>
          </a:p>
          <a:p>
            <a:pPr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（副業・兼業を含む）がいる</a:t>
            </a:r>
            <a:endParaRPr lang="en-US" altLang="ja-JP" sz="44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ヒラギノ角ゴ Pro W3"/>
            </a:endParaRPr>
          </a:p>
          <a:p>
            <a:pPr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・国内労働力人口の</a:t>
            </a:r>
            <a:r>
              <a:rPr lang="ja-JP" altLang="en-US" sz="4400" dirty="0">
                <a:solidFill>
                  <a:srgbClr val="E3022C"/>
                </a:solidFill>
                <a:latin typeface="+mn-ea"/>
                <a:cs typeface="ヒラギノ角ゴ Pro W3"/>
              </a:rPr>
              <a:t>約</a:t>
            </a:r>
            <a:r>
              <a:rPr lang="en-US" altLang="ja-JP" sz="4400" dirty="0">
                <a:solidFill>
                  <a:srgbClr val="E3022C"/>
                </a:solidFill>
                <a:latin typeface="+mn-ea"/>
                <a:cs typeface="ヒラギノ角ゴ Pro W3"/>
              </a:rPr>
              <a:t>6</a:t>
            </a:r>
            <a:r>
              <a:rPr lang="ja-JP" altLang="en-US" sz="4400" dirty="0">
                <a:solidFill>
                  <a:srgbClr val="E3022C"/>
                </a:solidFill>
                <a:latin typeface="+mn-ea"/>
                <a:cs typeface="ヒラギノ角ゴ Pro W3"/>
              </a:rPr>
              <a:t>分の</a:t>
            </a:r>
            <a:r>
              <a:rPr lang="en-US" altLang="ja-JP" sz="4400" dirty="0">
                <a:solidFill>
                  <a:srgbClr val="E3022C"/>
                </a:solidFill>
                <a:latin typeface="+mn-ea"/>
                <a:cs typeface="ヒラギノ角ゴ Pro W3"/>
              </a:rPr>
              <a:t>1</a:t>
            </a:r>
          </a:p>
          <a:p>
            <a:pPr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・米国では、</a:t>
            </a:r>
            <a:r>
              <a:rPr lang="en-US" altLang="ja-JP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1</a:t>
            </a:r>
            <a:r>
              <a:rPr lang="ja-JP" alt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億</a:t>
            </a:r>
            <a:r>
              <a:rPr lang="en-US" altLang="ja-JP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6</a:t>
            </a:r>
            <a:r>
              <a:rPr lang="ja-JP" alt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千万人の労働力人口のうち</a:t>
            </a:r>
            <a:endParaRPr lang="en-US" altLang="ja-JP" sz="44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ヒラギノ角ゴ Pro W3"/>
            </a:endParaRPr>
          </a:p>
          <a:p>
            <a:pPr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　</a:t>
            </a:r>
            <a:r>
              <a:rPr lang="en-US" altLang="ja-JP" sz="4400" dirty="0">
                <a:solidFill>
                  <a:srgbClr val="E3022C"/>
                </a:solidFill>
                <a:latin typeface="+mn-ea"/>
                <a:cs typeface="ヒラギノ角ゴ Pro W3"/>
              </a:rPr>
              <a:t>5,730</a:t>
            </a:r>
            <a:r>
              <a:rPr lang="ja-JP" altLang="en-US" sz="4400" dirty="0">
                <a:solidFill>
                  <a:srgbClr val="E3022C"/>
                </a:solidFill>
                <a:latin typeface="+mn-ea"/>
                <a:cs typeface="ヒラギノ角ゴ Pro W3"/>
              </a:rPr>
              <a:t>万人</a:t>
            </a:r>
            <a:r>
              <a:rPr lang="ja-JP" alt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が既にフリーランス化しており</a:t>
            </a:r>
            <a:endParaRPr lang="en-US" altLang="ja-JP" sz="44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ヒラギノ角ゴ Pro W3"/>
            </a:endParaRPr>
          </a:p>
          <a:p>
            <a:pPr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・</a:t>
            </a:r>
            <a:r>
              <a:rPr lang="en-US" altLang="ja-JP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2027</a:t>
            </a:r>
            <a:r>
              <a:rPr lang="ja-JP" alt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年にはフリーランス人口が</a:t>
            </a:r>
            <a:r>
              <a:rPr lang="ja-JP" altLang="en-US" sz="4400" dirty="0">
                <a:solidFill>
                  <a:srgbClr val="E3022C"/>
                </a:solidFill>
                <a:latin typeface="+mn-ea"/>
                <a:cs typeface="ヒラギノ角ゴ Pro W3"/>
              </a:rPr>
              <a:t>過半数</a:t>
            </a:r>
            <a:r>
              <a:rPr lang="ja-JP" alt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に</a:t>
            </a:r>
            <a:endParaRPr lang="en-US" altLang="ja-JP" sz="44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ヒラギノ角ゴ Pro W3"/>
            </a:endParaRPr>
          </a:p>
          <a:p>
            <a:pPr algn="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（「フリーランス白書</a:t>
            </a:r>
            <a:r>
              <a:rPr lang="en-US" altLang="ja-JP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2018</a:t>
            </a:r>
            <a:r>
              <a:rPr lang="ja-JP" alt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」より引用）</a:t>
            </a:r>
            <a:endParaRPr lang="en-US" altLang="ja-JP" sz="44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ヒラギノ角ゴ Pro W3"/>
            </a:endParaRPr>
          </a:p>
        </p:txBody>
      </p:sp>
      <p:sp>
        <p:nvSpPr>
          <p:cNvPr id="2" name="テキスト ボックス 1"/>
          <p:cNvSpPr txBox="1"/>
          <p:nvPr/>
        </p:nvSpPr>
        <p:spPr>
          <a:xfrm>
            <a:off x="498838" y="343815"/>
            <a:ext cx="1119890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800" dirty="0"/>
              <a:t>フリーランス、個人事業主、ひとり起業家が</a:t>
            </a:r>
            <a:endParaRPr kumimoji="1" lang="en-US" altLang="ja-JP" sz="4800" dirty="0"/>
          </a:p>
          <a:p>
            <a:pPr algn="ctr"/>
            <a:r>
              <a:rPr kumimoji="1" lang="ja-JP" altLang="en-US" sz="4800" dirty="0"/>
              <a:t>増え続けている</a:t>
            </a:r>
          </a:p>
        </p:txBody>
      </p:sp>
    </p:spTree>
    <p:extLst>
      <p:ext uri="{BB962C8B-B14F-4D97-AF65-F5344CB8AC3E}">
        <p14:creationId xmlns:p14="http://schemas.microsoft.com/office/powerpoint/2010/main" val="3672447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/>
          <p:nvPr/>
        </p:nvSpPr>
        <p:spPr>
          <a:xfrm>
            <a:off x="1" y="853791"/>
            <a:ext cx="12192000" cy="5150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競合他者や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ヒラギノ角ゴ Pro W3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同じポジショニングも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ヒラギノ角ゴ Pro W3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増え続けている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ヒラギノ角ゴ Pro W3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↓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ヒラギノ角ゴ Pro W3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6600" dirty="0">
                <a:solidFill>
                  <a:srgbClr val="E3022C"/>
                </a:solidFill>
                <a:latin typeface="+mn-ea"/>
                <a:cs typeface="ヒラギノ角ゴ Pro W3"/>
              </a:rPr>
              <a:t>「差別化」がきかない</a:t>
            </a:r>
            <a:endParaRPr lang="en-US" altLang="ja-JP" sz="6600" dirty="0">
              <a:solidFill>
                <a:srgbClr val="E3022C"/>
              </a:solidFill>
              <a:latin typeface="+mn-ea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3055854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/>
          <p:nvPr/>
        </p:nvSpPr>
        <p:spPr>
          <a:xfrm>
            <a:off x="1" y="853791"/>
            <a:ext cx="12192000" cy="5150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差別化じゃなくて</a:t>
            </a:r>
            <a:r>
              <a:rPr lang="ja-JP" altLang="en-US" sz="6600" dirty="0">
                <a:solidFill>
                  <a:srgbClr val="E3022C"/>
                </a:solidFill>
                <a:latin typeface="+mn-ea"/>
                <a:cs typeface="ヒラギノ角ゴ Pro W3"/>
              </a:rPr>
              <a:t>独自化</a:t>
            </a:r>
            <a:endParaRPr lang="en-US" altLang="ja-JP" sz="6600" dirty="0">
              <a:solidFill>
                <a:srgbClr val="E3022C"/>
              </a:solidFill>
              <a:latin typeface="+mn-ea"/>
              <a:cs typeface="ヒラギノ角ゴ Pro W3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それも</a:t>
            </a:r>
            <a:r>
              <a:rPr lang="ja-JP" altLang="en-US" sz="6600" dirty="0">
                <a:solidFill>
                  <a:srgbClr val="E3022C"/>
                </a:solidFill>
                <a:latin typeface="+mn-ea"/>
                <a:cs typeface="ヒラギノ角ゴ Pro W3"/>
              </a:rPr>
              <a:t>一刻も早く！</a:t>
            </a:r>
            <a:endParaRPr lang="en-US" altLang="ja-JP" sz="6600" dirty="0">
              <a:solidFill>
                <a:srgbClr val="E3022C"/>
              </a:solidFill>
              <a:latin typeface="+mn-ea"/>
              <a:cs typeface="ヒラギノ角ゴ Pro W3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ヒラギノ角ゴ Pro W3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6600" dirty="0">
                <a:solidFill>
                  <a:srgbClr val="E3022C"/>
                </a:solidFill>
                <a:latin typeface="+mn-ea"/>
                <a:cs typeface="ヒラギノ角ゴ Pro W3"/>
              </a:rPr>
              <a:t>選ばれる絶対戦略</a:t>
            </a:r>
            <a:endParaRPr lang="en-US" altLang="ja-JP" sz="6600" dirty="0">
              <a:solidFill>
                <a:srgbClr val="E3022C"/>
              </a:solidFill>
              <a:latin typeface="+mn-ea"/>
              <a:cs typeface="ヒラギノ角ゴ Pro W3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が必要</a:t>
            </a:r>
            <a:endParaRPr lang="en-US" altLang="ja-JP" sz="6600" dirty="0">
              <a:solidFill>
                <a:srgbClr val="E3022C"/>
              </a:solidFill>
              <a:latin typeface="+mn-ea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2638999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/>
          <p:nvPr/>
        </p:nvSpPr>
        <p:spPr>
          <a:xfrm>
            <a:off x="1" y="2284952"/>
            <a:ext cx="12192000" cy="2288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en-US" altLang="ja-JP" sz="72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2. </a:t>
            </a:r>
            <a:r>
              <a:rPr lang="ja-JP" altLang="en-US" sz="72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集客から売上につながる</a:t>
            </a:r>
            <a:endParaRPr lang="en-US" altLang="ja-JP" sz="72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ヒラギノ角ゴ Pro W3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72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集客導線がない</a:t>
            </a:r>
            <a:endParaRPr lang="en-US" altLang="ja-JP" sz="72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3095345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Shape 569"/>
          <p:cNvSpPr/>
          <p:nvPr/>
        </p:nvSpPr>
        <p:spPr>
          <a:xfrm>
            <a:off x="357188" y="2377282"/>
            <a:ext cx="11465717" cy="2103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こんな声を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Hiragino Kaku Gothic Pro W3" charset="-128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聞いたことはありませんか？</a:t>
            </a:r>
            <a:endParaRPr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Hiragino Kaku Gothic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3653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Shape 569"/>
          <p:cNvSpPr/>
          <p:nvPr/>
        </p:nvSpPr>
        <p:spPr>
          <a:xfrm>
            <a:off x="384308" y="67258"/>
            <a:ext cx="11430000" cy="6720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pPr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4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・</a:t>
            </a:r>
            <a:r>
              <a:rPr lang="en-US" altLang="ja-JP" sz="4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SNS</a:t>
            </a:r>
            <a:r>
              <a:rPr lang="ja-JP" altLang="en-US" sz="4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やブログに投稿しているが</a:t>
            </a:r>
            <a:endParaRPr lang="en-US" altLang="ja-JP" sz="48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Hiragino Kaku Gothic Pro W3" charset="-128"/>
            </a:endParaRPr>
          </a:p>
          <a:p>
            <a:pPr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4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　</a:t>
            </a:r>
            <a:r>
              <a:rPr lang="ja-JP" altLang="en-US" sz="4800" dirty="0">
                <a:solidFill>
                  <a:srgbClr val="E3022C"/>
                </a:solidFill>
                <a:latin typeface="+mn-ea"/>
                <a:cs typeface="Hiragino Kaku Gothic Pro W3" charset="-128"/>
              </a:rPr>
              <a:t>集客に結びつかない</a:t>
            </a:r>
            <a:endParaRPr lang="en-US" altLang="ja-JP" sz="4800" dirty="0">
              <a:solidFill>
                <a:srgbClr val="E3022C"/>
              </a:solidFill>
              <a:latin typeface="+mn-ea"/>
              <a:cs typeface="Hiragino Kaku Gothic Pro W3" charset="-128"/>
            </a:endParaRPr>
          </a:p>
          <a:p>
            <a:pPr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4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・再生回数は増えてるが</a:t>
            </a:r>
            <a:endParaRPr lang="en-US" altLang="ja-JP" sz="48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Hiragino Kaku Gothic Pro W3" charset="-128"/>
            </a:endParaRPr>
          </a:p>
          <a:p>
            <a:pPr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4800" dirty="0">
                <a:solidFill>
                  <a:srgbClr val="E3022C"/>
                </a:solidFill>
                <a:latin typeface="+mn-ea"/>
                <a:cs typeface="Hiragino Kaku Gothic Pro W3" charset="-128"/>
              </a:rPr>
              <a:t>　集客や売上げに結びつかない</a:t>
            </a:r>
          </a:p>
          <a:p>
            <a:pPr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4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・一見、コメントも入って</a:t>
            </a:r>
            <a:endParaRPr lang="en-US" altLang="ja-JP" sz="48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Hiragino Kaku Gothic Pro W3" charset="-128"/>
            </a:endParaRPr>
          </a:p>
          <a:p>
            <a:pPr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4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　盛り上がって見えるが</a:t>
            </a:r>
          </a:p>
          <a:p>
            <a:pPr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4800" dirty="0">
                <a:solidFill>
                  <a:srgbClr val="E3022C"/>
                </a:solidFill>
                <a:latin typeface="+mn-ea"/>
                <a:cs typeface="Hiragino Kaku Gothic Pro W3" charset="-128"/>
              </a:rPr>
              <a:t>　内輪同士の盛り上がりにすぎない</a:t>
            </a:r>
          </a:p>
          <a:p>
            <a:pPr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4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・なんとなく対談をやってるが</a:t>
            </a:r>
            <a:endParaRPr lang="en-US" altLang="ja-JP" sz="48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Hiragino Kaku Gothic Pro W3" charset="-128"/>
            </a:endParaRPr>
          </a:p>
          <a:p>
            <a:pPr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4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　成果は・・・</a:t>
            </a:r>
            <a:endParaRPr lang="en-US" altLang="ja-JP" sz="48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Hiragino Kaku Gothic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4926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Shape 569"/>
          <p:cNvSpPr/>
          <p:nvPr/>
        </p:nvSpPr>
        <p:spPr>
          <a:xfrm>
            <a:off x="357188" y="2885113"/>
            <a:ext cx="11465717" cy="1087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その理由は？</a:t>
            </a:r>
            <a:endParaRPr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Hiragino Kaku Gothic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39188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Shape 569"/>
          <p:cNvSpPr/>
          <p:nvPr/>
        </p:nvSpPr>
        <p:spPr>
          <a:xfrm>
            <a:off x="357188" y="1361620"/>
            <a:ext cx="11471490" cy="4134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pPr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・</a:t>
            </a:r>
            <a:r>
              <a:rPr lang="en-US" altLang="ja-JP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SNS</a:t>
            </a: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・ブログの発信や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Hiragino Kaku Gothic Pro W3" charset="-128"/>
            </a:endParaRPr>
          </a:p>
          <a:p>
            <a:pPr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　ライブが</a:t>
            </a:r>
            <a:r>
              <a:rPr lang="ja-JP" altLang="en-US" sz="6600" dirty="0">
                <a:solidFill>
                  <a:srgbClr val="CC0000"/>
                </a:solidFill>
                <a:latin typeface="+mn-ea"/>
                <a:cs typeface="Hiragino Kaku Gothic Pro W3" charset="-128"/>
              </a:rPr>
              <a:t>単発</a:t>
            </a: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になっている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Hiragino Kaku Gothic Pro W3" charset="-128"/>
            </a:endParaRPr>
          </a:p>
          <a:p>
            <a:pPr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・落としどころがない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Hiragino Kaku Gothic Pro W3" charset="-128"/>
            </a:endParaRPr>
          </a:p>
          <a:p>
            <a:pPr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・</a:t>
            </a:r>
            <a:r>
              <a:rPr lang="ja-JP" altLang="en-US" sz="6600" dirty="0">
                <a:solidFill>
                  <a:srgbClr val="CC0000"/>
                </a:solidFill>
                <a:latin typeface="+mn-ea"/>
                <a:cs typeface="Hiragino Kaku Gothic Pro W3" charset="-128"/>
              </a:rPr>
              <a:t>流れ・戦略</a:t>
            </a: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がない</a:t>
            </a:r>
            <a:endParaRPr lang="en-US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Hiragino Kaku Gothic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84674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Shape 569"/>
          <p:cNvSpPr/>
          <p:nvPr/>
        </p:nvSpPr>
        <p:spPr>
          <a:xfrm>
            <a:off x="357188" y="1869451"/>
            <a:ext cx="11471490" cy="3119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集客・売上に結びつけるには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Hiragino Kaku Gothic Pro W3" charset="-128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6600" dirty="0">
                <a:solidFill>
                  <a:srgbClr val="E3022C"/>
                </a:solidFill>
                <a:latin typeface="+mn-ea"/>
                <a:cs typeface="Hiragino Kaku Gothic Pro W3" charset="-128"/>
              </a:rPr>
              <a:t>流れ（集客導線）</a:t>
            </a:r>
            <a:endParaRPr lang="en-US" altLang="ja-JP" sz="6600" dirty="0">
              <a:solidFill>
                <a:srgbClr val="E3022C"/>
              </a:solidFill>
              <a:latin typeface="+mn-ea"/>
              <a:cs typeface="Hiragino Kaku Gothic Pro W3" charset="-128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が必要</a:t>
            </a:r>
            <a:endParaRPr lang="en-US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Hiragino Kaku Gothic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57957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/>
          <p:nvPr/>
        </p:nvSpPr>
        <p:spPr>
          <a:xfrm>
            <a:off x="1443042" y="1483134"/>
            <a:ext cx="9288918" cy="3891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60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どんなに</a:t>
            </a:r>
            <a:endParaRPr lang="en-US" altLang="ja-JP" sz="60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ヒラギノ角ゴ Pro W3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60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目先の集客方法を探しても</a:t>
            </a:r>
            <a:endParaRPr lang="en-US" altLang="ja-JP" sz="60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ヒラギノ角ゴ Pro W3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60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根本原因を対処しなければ</a:t>
            </a:r>
            <a:endParaRPr lang="en-US" altLang="ja-JP" sz="60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ヒラギノ角ゴ Pro W3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6821" dirty="0">
                <a:solidFill>
                  <a:srgbClr val="E3022C"/>
                </a:solidFill>
                <a:latin typeface="+mn-ea"/>
                <a:cs typeface="ヒラギノ角ゴ Pro W3"/>
              </a:rPr>
              <a:t>無駄な努力</a:t>
            </a:r>
            <a:endParaRPr lang="en-US" altLang="ja-JP" sz="6821" dirty="0">
              <a:solidFill>
                <a:srgbClr val="E3022C"/>
              </a:solidFill>
              <a:latin typeface="+mn-ea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1077856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/>
          <p:nvPr/>
        </p:nvSpPr>
        <p:spPr>
          <a:xfrm>
            <a:off x="1631286" y="853789"/>
            <a:ext cx="8933674" cy="5150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6600" dirty="0">
                <a:solidFill>
                  <a:srgbClr val="E3022C"/>
                </a:solidFill>
                <a:latin typeface="+mn-ea"/>
                <a:cs typeface="ヒラギノ角ゴ Pro W3"/>
              </a:rPr>
              <a:t>・選ばれる絶対戦略</a:t>
            </a:r>
            <a:endParaRPr lang="en-US" altLang="ja-JP" sz="6600" dirty="0">
              <a:solidFill>
                <a:srgbClr val="E3022C"/>
              </a:solidFill>
              <a:latin typeface="+mn-ea"/>
              <a:cs typeface="ヒラギノ角ゴ Pro W3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6600" dirty="0">
                <a:solidFill>
                  <a:srgbClr val="E3022C"/>
                </a:solidFill>
                <a:latin typeface="+mn-ea"/>
                <a:cs typeface="ヒラギノ角ゴ Pro W3"/>
              </a:rPr>
              <a:t>・王道の集客導線（流れ）</a:t>
            </a:r>
            <a:endParaRPr lang="en-US" altLang="ja-JP" sz="6600" dirty="0">
              <a:solidFill>
                <a:srgbClr val="E3022C"/>
              </a:solidFill>
              <a:latin typeface="+mn-ea"/>
              <a:cs typeface="ヒラギノ角ゴ Pro W3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この２つを組み込んで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ヒラギノ角ゴ Pro W3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実践するのが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ヒラギノ角ゴ Pro W3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6600" dirty="0">
                <a:solidFill>
                  <a:srgbClr val="E3022C"/>
                </a:solidFill>
                <a:latin typeface="+mn-ea"/>
                <a:cs typeface="ヒラギノ角ゴ Pro W3"/>
              </a:rPr>
              <a:t>７種類のライブ集客</a:t>
            </a:r>
            <a:endParaRPr lang="en-US" altLang="ja-JP" sz="6600" dirty="0">
              <a:solidFill>
                <a:srgbClr val="E3022C"/>
              </a:solidFill>
              <a:latin typeface="+mn-ea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442874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/>
          <p:nvPr/>
        </p:nvSpPr>
        <p:spPr>
          <a:xfrm>
            <a:off x="1817233" y="2377282"/>
            <a:ext cx="8557535" cy="2103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0" tIns="35710" rIns="35710" bIns="35710" anchor="ctr">
            <a:spAutoFit/>
          </a:bodyPr>
          <a:lstStyle/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6600" dirty="0">
                <a:solidFill>
                  <a:srgbClr val="E3022C"/>
                </a:solidFill>
                <a:latin typeface="+mn-ea"/>
                <a:cs typeface="ヒラギノ角ゴ Pro W3"/>
              </a:rPr>
              <a:t>７種類のライブ集客</a:t>
            </a:r>
            <a:endParaRPr lang="en-US" altLang="ja-JP" sz="6600" dirty="0">
              <a:solidFill>
                <a:srgbClr val="E3022C"/>
              </a:solidFill>
              <a:latin typeface="+mn-ea"/>
              <a:cs typeface="ヒラギノ角ゴ Pro W3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を実践すると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542795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544951" y="437374"/>
            <a:ext cx="11110333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800" dirty="0">
                <a:latin typeface="+mn-ea"/>
              </a:rPr>
              <a:t>・好きなことや「特技・スキル」で</a:t>
            </a:r>
            <a:endParaRPr lang="en-US" altLang="ja-JP" sz="4800" dirty="0">
              <a:latin typeface="+mn-ea"/>
            </a:endParaRPr>
          </a:p>
          <a:p>
            <a:r>
              <a:rPr lang="ja-JP" altLang="en-US" sz="4800" dirty="0">
                <a:latin typeface="+mn-ea"/>
              </a:rPr>
              <a:t>　</a:t>
            </a:r>
            <a:r>
              <a:rPr lang="en-US" altLang="ja-JP" sz="4800" dirty="0">
                <a:solidFill>
                  <a:srgbClr val="E3022C"/>
                </a:solidFill>
                <a:latin typeface="+mn-ea"/>
              </a:rPr>
              <a:t>30</a:t>
            </a:r>
            <a:r>
              <a:rPr lang="ja-JP" altLang="en-US" sz="4800" dirty="0">
                <a:solidFill>
                  <a:srgbClr val="E3022C"/>
                </a:solidFill>
                <a:latin typeface="+mn-ea"/>
              </a:rPr>
              <a:t>万円</a:t>
            </a:r>
            <a:r>
              <a:rPr lang="en-US" altLang="ja-JP" sz="4800" dirty="0">
                <a:solidFill>
                  <a:srgbClr val="E3022C"/>
                </a:solidFill>
                <a:latin typeface="+mn-ea"/>
              </a:rPr>
              <a:t>〜100</a:t>
            </a:r>
            <a:r>
              <a:rPr lang="ja-JP" altLang="en-US" sz="4800" dirty="0">
                <a:solidFill>
                  <a:srgbClr val="E3022C"/>
                </a:solidFill>
                <a:latin typeface="+mn-ea"/>
              </a:rPr>
              <a:t>万円</a:t>
            </a:r>
            <a:r>
              <a:rPr lang="ja-JP" altLang="en-US" sz="4800" dirty="0">
                <a:latin typeface="+mn-ea"/>
              </a:rPr>
              <a:t>を何度でも生み出せる</a:t>
            </a:r>
          </a:p>
          <a:p>
            <a:r>
              <a:rPr lang="ja-JP" altLang="en-US" sz="4800" dirty="0">
                <a:latin typeface="+mn-ea"/>
              </a:rPr>
              <a:t>・「あなただから」と選ばれて</a:t>
            </a:r>
            <a:endParaRPr lang="en-US" altLang="ja-JP" sz="4800" dirty="0">
              <a:latin typeface="+mn-ea"/>
            </a:endParaRPr>
          </a:p>
          <a:p>
            <a:r>
              <a:rPr lang="ja-JP" altLang="en-US" sz="4800" dirty="0">
                <a:solidFill>
                  <a:srgbClr val="E3022C"/>
                </a:solidFill>
                <a:latin typeface="+mn-ea"/>
              </a:rPr>
              <a:t>　売り込みなしに売れる</a:t>
            </a:r>
          </a:p>
          <a:p>
            <a:r>
              <a:rPr lang="ja-JP" altLang="en-US" sz="4800" dirty="0">
                <a:latin typeface="+mn-ea"/>
              </a:rPr>
              <a:t>・むずかしく時間がかかるものは不要、</a:t>
            </a:r>
            <a:endParaRPr lang="en-US" altLang="ja-JP" sz="4800" dirty="0">
              <a:latin typeface="+mn-ea"/>
            </a:endParaRPr>
          </a:p>
          <a:p>
            <a:r>
              <a:rPr lang="ja-JP" altLang="en-US" sz="4800" dirty="0">
                <a:latin typeface="+mn-ea"/>
              </a:rPr>
              <a:t>　</a:t>
            </a:r>
            <a:r>
              <a:rPr lang="ja-JP" altLang="en-US" sz="4800" dirty="0">
                <a:solidFill>
                  <a:srgbClr val="E3022C"/>
                </a:solidFill>
                <a:latin typeface="+mn-ea"/>
              </a:rPr>
              <a:t>お金をかけずにカンタンに</a:t>
            </a:r>
            <a:r>
              <a:rPr lang="ja-JP" altLang="en-US" sz="4800" dirty="0">
                <a:latin typeface="+mn-ea"/>
              </a:rPr>
              <a:t>できる</a:t>
            </a:r>
          </a:p>
          <a:p>
            <a:r>
              <a:rPr lang="ja-JP" altLang="en-US" sz="4800" dirty="0">
                <a:latin typeface="+mn-ea"/>
              </a:rPr>
              <a:t>・</a:t>
            </a:r>
            <a:r>
              <a:rPr lang="ja-JP" altLang="en-US" sz="4800" dirty="0">
                <a:solidFill>
                  <a:srgbClr val="E3022C"/>
                </a:solidFill>
                <a:latin typeface="+mn-ea"/>
              </a:rPr>
              <a:t>生涯生き抜くスキル</a:t>
            </a:r>
            <a:r>
              <a:rPr lang="ja-JP" altLang="en-US" sz="4800" dirty="0">
                <a:latin typeface="+mn-ea"/>
              </a:rPr>
              <a:t>を</a:t>
            </a:r>
            <a:endParaRPr lang="en-US" altLang="ja-JP" sz="4800" dirty="0">
              <a:latin typeface="+mn-ea"/>
            </a:endParaRPr>
          </a:p>
          <a:p>
            <a:r>
              <a:rPr lang="ja-JP" altLang="en-US" sz="4800" dirty="0">
                <a:latin typeface="+mn-ea"/>
              </a:rPr>
              <a:t>　手に入れることができる</a:t>
            </a:r>
          </a:p>
        </p:txBody>
      </p:sp>
    </p:spTree>
    <p:extLst>
      <p:ext uri="{BB962C8B-B14F-4D97-AF65-F5344CB8AC3E}">
        <p14:creationId xmlns:p14="http://schemas.microsoft.com/office/powerpoint/2010/main" val="412749794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Shape 569"/>
          <p:cNvSpPr/>
          <p:nvPr/>
        </p:nvSpPr>
        <p:spPr>
          <a:xfrm>
            <a:off x="357188" y="422901"/>
            <a:ext cx="11465717" cy="6012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60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お金をかけることなく</a:t>
            </a: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60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「あなただから」と選ばれながら</a:t>
            </a: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60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３０万円</a:t>
            </a:r>
            <a:r>
              <a:rPr lang="en-US" altLang="ja-JP" sz="60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〜</a:t>
            </a:r>
            <a:r>
              <a:rPr lang="ja-JP" altLang="en-US" sz="60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１００万円を生み出し</a:t>
            </a: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60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何度でも再現可能な</a:t>
            </a: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8000" dirty="0">
                <a:solidFill>
                  <a:srgbClr val="E3022C"/>
                </a:solidFill>
                <a:latin typeface="+mn-ea"/>
                <a:cs typeface="Hiragino Kaku Gothic Pro W3" charset="-128"/>
              </a:rPr>
              <a:t>７種類のライブ集客</a:t>
            </a: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60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の全体像とは？</a:t>
            </a:r>
            <a:endParaRPr sz="60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Hiragino Kaku Gothic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57961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Shape 569"/>
          <p:cNvSpPr/>
          <p:nvPr/>
        </p:nvSpPr>
        <p:spPr>
          <a:xfrm>
            <a:off x="0" y="1361620"/>
            <a:ext cx="12192000" cy="4134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6600" dirty="0">
                <a:solidFill>
                  <a:srgbClr val="E3022C"/>
                </a:solidFill>
                <a:latin typeface="+mn-ea"/>
                <a:cs typeface="Hiragino Kaku Gothic Pro W3" charset="-128"/>
              </a:rPr>
              <a:t>７種類のライブ集客</a:t>
            </a: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と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Hiragino Kaku Gothic Pro W3" charset="-128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6600" dirty="0">
                <a:solidFill>
                  <a:srgbClr val="E3022C"/>
                </a:solidFill>
                <a:latin typeface="+mn-ea"/>
                <a:cs typeface="Hiragino Kaku Gothic Pro W3" charset="-128"/>
              </a:rPr>
              <a:t>オンライン完結型ビジネス</a:t>
            </a: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で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Hiragino Kaku Gothic Pro W3" charset="-128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6600" dirty="0">
                <a:solidFill>
                  <a:srgbClr val="E3022C"/>
                </a:solidFill>
                <a:latin typeface="+mn-ea"/>
                <a:cs typeface="Hiragino Kaku Gothic Pro W3" charset="-128"/>
              </a:rPr>
              <a:t>月商</a:t>
            </a:r>
            <a:r>
              <a:rPr lang="en-US" altLang="ja-JP" sz="6600" dirty="0">
                <a:solidFill>
                  <a:srgbClr val="E3022C"/>
                </a:solidFill>
                <a:latin typeface="+mn-ea"/>
                <a:cs typeface="Hiragino Kaku Gothic Pro W3" charset="-128"/>
              </a:rPr>
              <a:t>100</a:t>
            </a:r>
            <a:r>
              <a:rPr lang="ja-JP" altLang="en-US" sz="6600" dirty="0">
                <a:solidFill>
                  <a:srgbClr val="E3022C"/>
                </a:solidFill>
                <a:latin typeface="+mn-ea"/>
                <a:cs typeface="Hiragino Kaku Gothic Pro W3" charset="-128"/>
              </a:rPr>
              <a:t>万円</a:t>
            </a: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売上げる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Hiragino Kaku Gothic Pro W3" charset="-128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３つのステップ</a:t>
            </a:r>
            <a:endParaRPr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Hiragino Kaku Gothic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00153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Shape 569"/>
          <p:cNvSpPr/>
          <p:nvPr/>
        </p:nvSpPr>
        <p:spPr>
          <a:xfrm>
            <a:off x="0" y="1361621"/>
            <a:ext cx="12192000" cy="4134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ステップ１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Hiragino Kaku Gothic Pro W3" charset="-128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オンラインで提供できる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Hiragino Kaku Gothic Pro W3" charset="-128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6600" dirty="0">
                <a:solidFill>
                  <a:srgbClr val="E3022C"/>
                </a:solidFill>
                <a:latin typeface="+mn-ea"/>
                <a:cs typeface="Hiragino Kaku Gothic Pro W3" charset="-128"/>
              </a:rPr>
              <a:t>魅力的な高単価商品</a:t>
            </a:r>
            <a:endParaRPr lang="en-US" altLang="ja-JP" sz="6600" dirty="0">
              <a:solidFill>
                <a:srgbClr val="E3022C"/>
              </a:solidFill>
              <a:latin typeface="+mn-ea"/>
              <a:cs typeface="Hiragino Kaku Gothic Pro W3" charset="-128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を作る</a:t>
            </a:r>
            <a:endParaRPr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Hiragino Kaku Gothic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75746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Shape 569"/>
          <p:cNvSpPr/>
          <p:nvPr/>
        </p:nvSpPr>
        <p:spPr>
          <a:xfrm>
            <a:off x="0" y="1869452"/>
            <a:ext cx="12192000" cy="3119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ステップ２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Hiragino Kaku Gothic Pro W3" charset="-128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７種類のライブ集客で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Hiragino Kaku Gothic Pro W3" charset="-128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6600" dirty="0">
                <a:solidFill>
                  <a:srgbClr val="E3022C"/>
                </a:solidFill>
                <a:latin typeface="+mn-ea"/>
                <a:cs typeface="Hiragino Kaku Gothic Pro W3" charset="-128"/>
              </a:rPr>
              <a:t>優良な見込客</a:t>
            </a: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を集める</a:t>
            </a:r>
            <a:endParaRPr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Hiragino Kaku Gothic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03706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Shape 569"/>
          <p:cNvSpPr/>
          <p:nvPr/>
        </p:nvSpPr>
        <p:spPr>
          <a:xfrm>
            <a:off x="0" y="1869452"/>
            <a:ext cx="12192000" cy="3119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ステップ３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Hiragino Kaku Gothic Pro W3" charset="-128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ファンになってもらい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Hiragino Kaku Gothic Pro W3" charset="-128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6600" dirty="0">
                <a:solidFill>
                  <a:srgbClr val="E3022C"/>
                </a:solidFill>
                <a:latin typeface="+mn-ea"/>
                <a:cs typeface="Hiragino Kaku Gothic Pro W3" charset="-128"/>
              </a:rPr>
              <a:t>売り込みなしでご成約</a:t>
            </a:r>
            <a:endParaRPr sz="6600" dirty="0">
              <a:solidFill>
                <a:srgbClr val="E3022C"/>
              </a:solidFill>
              <a:latin typeface="+mn-ea"/>
              <a:cs typeface="Hiragino Kaku Gothic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28503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Shape 569"/>
          <p:cNvSpPr/>
          <p:nvPr/>
        </p:nvSpPr>
        <p:spPr>
          <a:xfrm>
            <a:off x="357188" y="1854062"/>
            <a:ext cx="11465717" cy="3149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60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具体的な</a:t>
            </a: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8000" dirty="0">
                <a:solidFill>
                  <a:srgbClr val="E3022C"/>
                </a:solidFill>
                <a:latin typeface="+mn-ea"/>
                <a:cs typeface="Hiragino Kaku Gothic Pro W3" charset="-128"/>
              </a:rPr>
              <a:t>７種類のライブ集客</a:t>
            </a: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60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の詳細は？</a:t>
            </a:r>
            <a:endParaRPr sz="60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Hiragino Kaku Gothic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26591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81"/>
          <p:cNvSpPr/>
          <p:nvPr/>
        </p:nvSpPr>
        <p:spPr>
          <a:xfrm>
            <a:off x="2302119" y="1727263"/>
            <a:ext cx="7609742" cy="3408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11299" tIns="11299" rIns="11299" bIns="11299" anchor="ctr">
            <a:spAutoFit/>
          </a:bodyPr>
          <a:lstStyle/>
          <a:p>
            <a:pPr algn="ctr"/>
            <a:r>
              <a:rPr lang="en-US" altLang="ja-JP" sz="6600" dirty="0">
                <a:latin typeface="+mn-ea"/>
                <a:cs typeface="ヒラギノ角ゴ Pro W3"/>
              </a:rPr>
              <a:t>1.</a:t>
            </a:r>
            <a:r>
              <a:rPr lang="ja-JP" altLang="en-US" sz="6600" dirty="0">
                <a:latin typeface="+mn-ea"/>
                <a:cs typeface="ヒラギノ角ゴ Pro W3"/>
              </a:rPr>
              <a:t>歩きライブ</a:t>
            </a:r>
            <a:endParaRPr lang="en-US" altLang="ja-JP" sz="6600" dirty="0">
              <a:latin typeface="+mn-ea"/>
              <a:cs typeface="ヒラギノ角ゴ Pro W3"/>
            </a:endParaRPr>
          </a:p>
          <a:p>
            <a:pPr algn="ctr"/>
            <a:r>
              <a:rPr lang="ja-JP" altLang="en-US" sz="6600" dirty="0">
                <a:latin typeface="+mn-ea"/>
                <a:cs typeface="ヒラギノ角ゴ Pro W3"/>
              </a:rPr>
              <a:t>目的：認知</a:t>
            </a:r>
            <a:br>
              <a:rPr lang="en-US" altLang="ja-JP" sz="6600" dirty="0">
                <a:latin typeface="+mn-ea"/>
                <a:cs typeface="ヒラギノ角ゴ Pro W3"/>
              </a:rPr>
            </a:br>
            <a:r>
              <a:rPr lang="ja-JP" altLang="en-US" sz="4400" dirty="0"/>
              <a:t>見ない、信じない、行動しない</a:t>
            </a:r>
            <a:br>
              <a:rPr lang="en-US" altLang="ja-JP" sz="4400" dirty="0"/>
            </a:br>
            <a:r>
              <a:rPr lang="ja-JP" altLang="en-US" sz="4400" dirty="0"/>
              <a:t>という３つの壁を超える</a:t>
            </a:r>
            <a:endParaRPr lang="en-US" altLang="ja-JP" sz="4400" dirty="0"/>
          </a:p>
        </p:txBody>
      </p:sp>
    </p:spTree>
    <p:extLst>
      <p:ext uri="{BB962C8B-B14F-4D97-AF65-F5344CB8AC3E}">
        <p14:creationId xmlns:p14="http://schemas.microsoft.com/office/powerpoint/2010/main" val="2888704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81"/>
          <p:cNvSpPr/>
          <p:nvPr/>
        </p:nvSpPr>
        <p:spPr>
          <a:xfrm>
            <a:off x="991182" y="1219432"/>
            <a:ext cx="10177062" cy="4424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11299" tIns="11299" rIns="11299" bIns="11299" anchor="ctr">
            <a:spAutoFit/>
          </a:bodyPr>
          <a:lstStyle/>
          <a:p>
            <a:pPr algn="ctr"/>
            <a:r>
              <a:rPr lang="en-US" altLang="ja-JP" sz="6600" dirty="0">
                <a:latin typeface="+mn-ea"/>
                <a:cs typeface="ヒラギノ角ゴ Pro W3"/>
              </a:rPr>
              <a:t>2.</a:t>
            </a:r>
            <a:r>
              <a:rPr lang="ja-JP" altLang="en-US" sz="6600" dirty="0">
                <a:latin typeface="+mn-ea"/>
                <a:cs typeface="ヒラギノ角ゴ Pro W3"/>
              </a:rPr>
              <a:t>ひとりライブ</a:t>
            </a:r>
            <a:endParaRPr lang="en-US" altLang="ja-JP" sz="6600" dirty="0">
              <a:latin typeface="+mn-ea"/>
              <a:cs typeface="ヒラギノ角ゴ Pro W3"/>
            </a:endParaRPr>
          </a:p>
          <a:p>
            <a:pPr algn="ctr"/>
            <a:r>
              <a:rPr lang="en-US" altLang="ja-JP" sz="6600" dirty="0">
                <a:latin typeface="+mn-ea"/>
                <a:cs typeface="ヒラギノ角ゴ Pro W3"/>
              </a:rPr>
              <a:t>3.</a:t>
            </a:r>
            <a:r>
              <a:rPr lang="ja-JP" altLang="en-US" sz="6600" dirty="0">
                <a:latin typeface="+mn-ea"/>
                <a:cs typeface="ヒラギノ角ゴ Pro W3"/>
              </a:rPr>
              <a:t>対談ライブ</a:t>
            </a:r>
            <a:endParaRPr lang="en-US" altLang="ja-JP" sz="6600" dirty="0">
              <a:latin typeface="+mn-ea"/>
              <a:cs typeface="ヒラギノ角ゴ Pro W3"/>
            </a:endParaRPr>
          </a:p>
          <a:p>
            <a:pPr algn="ctr"/>
            <a:r>
              <a:rPr lang="ja-JP" altLang="en-US" sz="6600" dirty="0">
                <a:latin typeface="+mn-ea"/>
                <a:cs typeface="ヒラギノ角ゴ Pro W3"/>
              </a:rPr>
              <a:t>目的：集客</a:t>
            </a:r>
            <a:br>
              <a:rPr lang="en-US" altLang="ja-JP" sz="6600" dirty="0">
                <a:latin typeface="+mn-ea"/>
                <a:cs typeface="ヒラギノ角ゴ Pro W3"/>
              </a:rPr>
            </a:br>
            <a:r>
              <a:rPr lang="en-US" altLang="ja-JP" sz="4400" dirty="0">
                <a:latin typeface="+mn-ea"/>
                <a:cs typeface="ヒラギノ角ゴ Pro W3"/>
              </a:rPr>
              <a:t>LINE</a:t>
            </a:r>
            <a:r>
              <a:rPr lang="ja-JP" altLang="en-US" sz="4400" dirty="0">
                <a:latin typeface="+mn-ea"/>
                <a:cs typeface="ヒラギノ角ゴ Pro W3"/>
              </a:rPr>
              <a:t>公式アカウント</a:t>
            </a:r>
            <a:r>
              <a:rPr lang="en-US" altLang="ja-JP" sz="4400" dirty="0">
                <a:latin typeface="+mn-ea"/>
                <a:cs typeface="ヒラギノ角ゴ Pro W3"/>
              </a:rPr>
              <a:t>/Facebook</a:t>
            </a:r>
            <a:r>
              <a:rPr lang="ja-JP" altLang="en-US" sz="4400" dirty="0">
                <a:latin typeface="+mn-ea"/>
                <a:cs typeface="ヒラギノ角ゴ Pro W3"/>
              </a:rPr>
              <a:t>グループ</a:t>
            </a:r>
            <a:endParaRPr lang="en-US" altLang="ja-JP" sz="4400" dirty="0">
              <a:latin typeface="+mn-ea"/>
              <a:cs typeface="ヒラギノ角ゴ Pro W3"/>
            </a:endParaRPr>
          </a:p>
          <a:p>
            <a:pPr algn="ctr"/>
            <a:r>
              <a:rPr lang="ja-JP" altLang="en-US" sz="4400" dirty="0">
                <a:latin typeface="+mn-ea"/>
                <a:cs typeface="ヒラギノ角ゴ Pro W3"/>
              </a:rPr>
              <a:t>に集まってもらう</a:t>
            </a:r>
            <a:endParaRPr lang="en-US" altLang="ja-JP" sz="4400" dirty="0">
              <a:latin typeface="+mn-ea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1150300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81"/>
          <p:cNvSpPr/>
          <p:nvPr/>
        </p:nvSpPr>
        <p:spPr>
          <a:xfrm>
            <a:off x="1102864" y="1219434"/>
            <a:ext cx="10114241" cy="4424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11299" tIns="11299" rIns="11299" bIns="11299" anchor="ctr">
            <a:spAutoFit/>
          </a:bodyPr>
          <a:lstStyle/>
          <a:p>
            <a:pPr algn="ctr"/>
            <a:r>
              <a:rPr lang="en-US" altLang="ja-JP" sz="6600" dirty="0">
                <a:latin typeface="+mn-ea"/>
                <a:cs typeface="ヒラギノ角ゴ Pro W3"/>
              </a:rPr>
              <a:t>2.</a:t>
            </a:r>
            <a:r>
              <a:rPr lang="ja-JP" altLang="en-US" sz="6600" dirty="0">
                <a:latin typeface="+mn-ea"/>
                <a:cs typeface="ヒラギノ角ゴ Pro W3"/>
              </a:rPr>
              <a:t>ひとりライブ</a:t>
            </a:r>
            <a:br>
              <a:rPr lang="en-US" altLang="ja-JP" sz="6600" dirty="0">
                <a:latin typeface="+mn-ea"/>
                <a:cs typeface="ヒラギノ角ゴ Pro W3"/>
              </a:rPr>
            </a:br>
            <a:endParaRPr lang="en-US" altLang="ja-JP" sz="4400" dirty="0">
              <a:latin typeface="+mn-ea"/>
              <a:cs typeface="ヒラギノ角ゴ Pro W3"/>
            </a:endParaRPr>
          </a:p>
          <a:p>
            <a:pPr algn="ctr"/>
            <a:r>
              <a:rPr lang="ja-JP" altLang="en-US" sz="4400" dirty="0"/>
              <a:t>・自分ひとりで企画して発信できるので</a:t>
            </a:r>
            <a:endParaRPr lang="en-US" altLang="ja-JP" sz="4400" dirty="0"/>
          </a:p>
          <a:p>
            <a:pPr algn="ctr"/>
            <a:r>
              <a:rPr lang="ja-JP" altLang="en-US" sz="4400" dirty="0"/>
              <a:t>気楽にフットワーク軽く実施できる</a:t>
            </a:r>
            <a:endParaRPr lang="en-US" altLang="ja-JP" sz="4400" dirty="0"/>
          </a:p>
          <a:p>
            <a:pPr algn="ctr"/>
            <a:r>
              <a:rPr lang="ja-JP" altLang="en-US" sz="4400" dirty="0"/>
              <a:t>・上手に話したり、すごいことを</a:t>
            </a:r>
            <a:endParaRPr lang="en-US" altLang="ja-JP" sz="4400" dirty="0"/>
          </a:p>
          <a:p>
            <a:pPr algn="ctr"/>
            <a:r>
              <a:rPr lang="ja-JP" altLang="en-US" sz="4400" dirty="0"/>
              <a:t>話す必要はなく共感が大事</a:t>
            </a:r>
            <a:endParaRPr lang="en-US" altLang="ja-JP" sz="6600" dirty="0">
              <a:latin typeface="+mn-ea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18356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81"/>
          <p:cNvSpPr/>
          <p:nvPr/>
        </p:nvSpPr>
        <p:spPr>
          <a:xfrm>
            <a:off x="1102864" y="880880"/>
            <a:ext cx="10114241" cy="5101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11299" tIns="11299" rIns="11299" bIns="11299" anchor="ctr">
            <a:spAutoFit/>
          </a:bodyPr>
          <a:lstStyle/>
          <a:p>
            <a:pPr algn="ctr"/>
            <a:r>
              <a:rPr lang="en-US" altLang="ja-JP" sz="6600" dirty="0">
                <a:latin typeface="+mn-ea"/>
                <a:cs typeface="ヒラギノ角ゴ Pro W3"/>
              </a:rPr>
              <a:t>3.</a:t>
            </a:r>
            <a:r>
              <a:rPr lang="ja-JP" altLang="en-US" sz="6600" dirty="0">
                <a:latin typeface="+mn-ea"/>
                <a:cs typeface="ヒラギノ角ゴ Pro W3"/>
              </a:rPr>
              <a:t>対談ライブ</a:t>
            </a:r>
            <a:endParaRPr lang="en-US" altLang="ja-JP" sz="6600" dirty="0">
              <a:latin typeface="+mn-ea"/>
              <a:cs typeface="ヒラギノ角ゴ Pro W3"/>
            </a:endParaRPr>
          </a:p>
          <a:p>
            <a:pPr algn="ctr"/>
            <a:endParaRPr lang="en-US" altLang="ja-JP" sz="4400" dirty="0">
              <a:latin typeface="+mn-ea"/>
              <a:cs typeface="ヒラギノ角ゴ Pro W3"/>
            </a:endParaRPr>
          </a:p>
          <a:p>
            <a:pPr algn="ctr"/>
            <a:r>
              <a:rPr lang="ja-JP" altLang="en-US" sz="4400" dirty="0"/>
              <a:t>・拡散しやすく再生回数も増えやすい</a:t>
            </a:r>
            <a:endParaRPr lang="en-US" altLang="ja-JP" sz="4400" dirty="0"/>
          </a:p>
          <a:p>
            <a:pPr algn="ctr"/>
            <a:r>
              <a:rPr lang="ja-JP" altLang="en-US" sz="4400" dirty="0"/>
              <a:t>・あらかじめスケジュール調整や</a:t>
            </a:r>
            <a:endParaRPr lang="en-US" altLang="ja-JP" sz="4400" dirty="0"/>
          </a:p>
          <a:p>
            <a:pPr algn="ctr"/>
            <a:r>
              <a:rPr lang="ja-JP" altLang="en-US" sz="4400" dirty="0"/>
              <a:t>企画の打ち合わせをする必要がある</a:t>
            </a:r>
            <a:endParaRPr lang="en-US" altLang="ja-JP" sz="4400" dirty="0"/>
          </a:p>
          <a:p>
            <a:pPr algn="ctr"/>
            <a:r>
              <a:rPr lang="ja-JP" altLang="en-US" sz="4400" dirty="0"/>
              <a:t>・ひとりライブに比べると</a:t>
            </a:r>
            <a:endParaRPr lang="en-US" altLang="ja-JP" sz="4400" dirty="0"/>
          </a:p>
          <a:p>
            <a:pPr algn="ctr"/>
            <a:r>
              <a:rPr lang="ja-JP" altLang="en-US" sz="4400" dirty="0"/>
              <a:t>濃いファンを生みにくい</a:t>
            </a:r>
            <a:endParaRPr lang="en-US" altLang="ja-JP" sz="6600" dirty="0">
              <a:latin typeface="+mn-ea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4215157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81"/>
          <p:cNvSpPr/>
          <p:nvPr/>
        </p:nvSpPr>
        <p:spPr>
          <a:xfrm>
            <a:off x="1102864" y="542326"/>
            <a:ext cx="10114241" cy="5778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11299" tIns="11299" rIns="11299" bIns="11299" anchor="ctr">
            <a:spAutoFit/>
          </a:bodyPr>
          <a:lstStyle/>
          <a:p>
            <a:pPr algn="ctr"/>
            <a:r>
              <a:rPr lang="ja-JP" altLang="en-US" sz="6600" dirty="0">
                <a:latin typeface="+mn-ea"/>
                <a:cs typeface="ヒラギノ角ゴ Pro W3"/>
              </a:rPr>
              <a:t>対談ライブの課題</a:t>
            </a:r>
            <a:endParaRPr lang="en-US" altLang="ja-JP" sz="6600" dirty="0">
              <a:latin typeface="+mn-ea"/>
              <a:cs typeface="ヒラギノ角ゴ Pro W3"/>
            </a:endParaRPr>
          </a:p>
          <a:p>
            <a:pPr algn="ctr"/>
            <a:endParaRPr lang="en-US" altLang="ja-JP" sz="4400" dirty="0">
              <a:latin typeface="+mn-ea"/>
              <a:cs typeface="ヒラギノ角ゴ Pro W3"/>
            </a:endParaRPr>
          </a:p>
          <a:p>
            <a:pPr algn="ctr"/>
            <a:r>
              <a:rPr lang="ja-JP" altLang="en-US" sz="4400" dirty="0"/>
              <a:t>・初心者同士で対談しても</a:t>
            </a:r>
            <a:endParaRPr lang="en-US" altLang="ja-JP" sz="4400" dirty="0"/>
          </a:p>
          <a:p>
            <a:pPr algn="ctr"/>
            <a:r>
              <a:rPr lang="ja-JP" altLang="en-US" sz="4400" dirty="0"/>
              <a:t>見てくれる人が集まりにくい</a:t>
            </a:r>
            <a:endParaRPr lang="en-US" altLang="ja-JP" sz="6600" dirty="0">
              <a:latin typeface="+mn-ea"/>
            </a:endParaRPr>
          </a:p>
          <a:p>
            <a:pPr algn="ctr"/>
            <a:r>
              <a:rPr lang="ja-JP" altLang="en-US" sz="4400" dirty="0"/>
              <a:t>↓</a:t>
            </a:r>
            <a:endParaRPr lang="en-US" altLang="ja-JP" sz="4400" dirty="0"/>
          </a:p>
          <a:p>
            <a:pPr algn="ctr"/>
            <a:r>
              <a:rPr lang="ja-JP" altLang="en-US" sz="4400" dirty="0"/>
              <a:t>結局、巨人の肩に乗る、</a:t>
            </a:r>
            <a:endParaRPr lang="en-US" altLang="ja-JP" sz="4400" dirty="0"/>
          </a:p>
          <a:p>
            <a:pPr algn="ctr"/>
            <a:r>
              <a:rPr lang="ja-JP" altLang="en-US" sz="4400" dirty="0"/>
              <a:t>つまり影響力のある人と対談ライブ</a:t>
            </a:r>
            <a:endParaRPr lang="en-US" altLang="ja-JP" sz="4400" dirty="0"/>
          </a:p>
          <a:p>
            <a:pPr algn="ctr"/>
            <a:r>
              <a:rPr lang="ja-JP" altLang="en-US" sz="4400" dirty="0"/>
              <a:t>をするのがいい。</a:t>
            </a:r>
            <a:endParaRPr lang="en-US" altLang="ja-JP" sz="4400" dirty="0"/>
          </a:p>
        </p:txBody>
      </p:sp>
    </p:spTree>
    <p:extLst>
      <p:ext uri="{BB962C8B-B14F-4D97-AF65-F5344CB8AC3E}">
        <p14:creationId xmlns:p14="http://schemas.microsoft.com/office/powerpoint/2010/main" val="1249292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81"/>
          <p:cNvSpPr/>
          <p:nvPr/>
        </p:nvSpPr>
        <p:spPr>
          <a:xfrm>
            <a:off x="1102864" y="2404374"/>
            <a:ext cx="10114241" cy="2054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11299" tIns="11299" rIns="11299" bIns="11299" anchor="ctr">
            <a:spAutoFit/>
          </a:bodyPr>
          <a:lstStyle/>
          <a:p>
            <a:pPr algn="ctr"/>
            <a:r>
              <a:rPr lang="ja-JP" altLang="en-US" sz="6600" dirty="0"/>
              <a:t>影響力のある人には</a:t>
            </a:r>
            <a:endParaRPr lang="en-US" altLang="ja-JP" sz="6600" dirty="0"/>
          </a:p>
          <a:p>
            <a:pPr algn="ctr"/>
            <a:r>
              <a:rPr lang="ja-JP" altLang="en-US" sz="6600" dirty="0"/>
              <a:t>お願いしづらくない？</a:t>
            </a:r>
            <a:endParaRPr lang="en-US" altLang="ja-JP" sz="6600" dirty="0"/>
          </a:p>
        </p:txBody>
      </p:sp>
    </p:spTree>
    <p:extLst>
      <p:ext uri="{BB962C8B-B14F-4D97-AF65-F5344CB8AC3E}">
        <p14:creationId xmlns:p14="http://schemas.microsoft.com/office/powerpoint/2010/main" val="2086931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81"/>
          <p:cNvSpPr/>
          <p:nvPr/>
        </p:nvSpPr>
        <p:spPr>
          <a:xfrm>
            <a:off x="1102864" y="2404374"/>
            <a:ext cx="10114241" cy="2054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11299" tIns="11299" rIns="11299" bIns="11299" anchor="ctr">
            <a:spAutoFit/>
          </a:bodyPr>
          <a:lstStyle/>
          <a:p>
            <a:pPr algn="ctr"/>
            <a:r>
              <a:rPr lang="ja-JP" altLang="en-US" sz="6600" dirty="0"/>
              <a:t>１つ目の必殺技</a:t>
            </a:r>
            <a:endParaRPr lang="en-US" altLang="ja-JP" sz="6600" dirty="0"/>
          </a:p>
          <a:p>
            <a:pPr algn="ctr"/>
            <a:r>
              <a:rPr lang="ja-JP" altLang="en-US" sz="6600" dirty="0">
                <a:solidFill>
                  <a:srgbClr val="E3022C"/>
                </a:solidFill>
              </a:rPr>
              <a:t>プレミアムティーアップライブ</a:t>
            </a:r>
            <a:endParaRPr lang="en-US" altLang="ja-JP" sz="6600" dirty="0">
              <a:solidFill>
                <a:srgbClr val="E3022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708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81"/>
          <p:cNvSpPr/>
          <p:nvPr/>
        </p:nvSpPr>
        <p:spPr>
          <a:xfrm>
            <a:off x="1689199" y="1388710"/>
            <a:ext cx="8808952" cy="4085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11299" tIns="11299" rIns="11299" bIns="11299" anchor="ctr">
            <a:spAutoFit/>
          </a:bodyPr>
          <a:lstStyle/>
          <a:p>
            <a:pPr algn="ctr"/>
            <a:r>
              <a:rPr lang="en-US" altLang="ja-JP" sz="6600" dirty="0">
                <a:latin typeface="+mn-ea"/>
                <a:cs typeface="ヒラギノ角ゴ Pro W3"/>
              </a:rPr>
              <a:t>4.</a:t>
            </a:r>
            <a:r>
              <a:rPr lang="ja-JP" altLang="en-US" sz="6600" dirty="0">
                <a:latin typeface="+mn-ea"/>
                <a:cs typeface="ヒラギノ角ゴ Pro W3"/>
              </a:rPr>
              <a:t>シークレットライブ</a:t>
            </a:r>
            <a:br>
              <a:rPr lang="en-US" altLang="ja-JP" sz="6600" dirty="0">
                <a:latin typeface="+mn-ea"/>
                <a:cs typeface="ヒラギノ角ゴ Pro W3"/>
              </a:rPr>
            </a:br>
            <a:r>
              <a:rPr lang="ja-JP" altLang="en-US" sz="6600" dirty="0">
                <a:latin typeface="+mn-ea"/>
                <a:cs typeface="ヒラギノ角ゴ Pro W3"/>
              </a:rPr>
              <a:t>目的：価値提供</a:t>
            </a:r>
            <a:br>
              <a:rPr lang="en-US" altLang="ja-JP" sz="6600" dirty="0">
                <a:latin typeface="+mn-ea"/>
                <a:cs typeface="ヒラギノ角ゴ Pro W3"/>
              </a:rPr>
            </a:br>
            <a:r>
              <a:rPr lang="ja-JP" altLang="en-US" sz="4400" dirty="0"/>
              <a:t>集まっていただいた見込客の方と</a:t>
            </a:r>
          </a:p>
          <a:p>
            <a:pPr algn="ctr"/>
            <a:r>
              <a:rPr lang="ja-JP" altLang="en-US" sz="4400" dirty="0"/>
              <a:t>信頼関係を構築し</a:t>
            </a:r>
            <a:br>
              <a:rPr lang="en-US" altLang="ja-JP" sz="4400" dirty="0"/>
            </a:br>
            <a:r>
              <a:rPr lang="ja-JP" altLang="en-US" sz="4400" dirty="0"/>
              <a:t>濃いファンになってもらう</a:t>
            </a:r>
            <a:endParaRPr lang="en-US" altLang="ja-JP" sz="4400" dirty="0">
              <a:latin typeface="+mn-ea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3142271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81"/>
          <p:cNvSpPr/>
          <p:nvPr/>
        </p:nvSpPr>
        <p:spPr>
          <a:xfrm>
            <a:off x="453710" y="1050155"/>
            <a:ext cx="10930919" cy="4762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11299" tIns="11299" rIns="11299" bIns="11299" anchor="ctr">
            <a:spAutoFit/>
          </a:bodyPr>
          <a:lstStyle/>
          <a:p>
            <a:pPr algn="ctr"/>
            <a:r>
              <a:rPr lang="en-US" altLang="ja-JP" sz="6600" dirty="0">
                <a:latin typeface="+mn-ea"/>
                <a:cs typeface="ヒラギノ角ゴ Pro W3"/>
              </a:rPr>
              <a:t>5.zoom</a:t>
            </a:r>
            <a:r>
              <a:rPr lang="ja-JP" altLang="en-US" sz="6600" dirty="0">
                <a:latin typeface="+mn-ea"/>
                <a:cs typeface="ヒラギノ角ゴ Pro W3"/>
              </a:rPr>
              <a:t>ライブ</a:t>
            </a:r>
            <a:br>
              <a:rPr lang="en-US" altLang="ja-JP" sz="6600" dirty="0">
                <a:latin typeface="+mn-ea"/>
                <a:cs typeface="ヒラギノ角ゴ Pro W3"/>
              </a:rPr>
            </a:br>
            <a:r>
              <a:rPr lang="ja-JP" altLang="en-US" sz="6600" dirty="0">
                <a:latin typeface="+mn-ea"/>
                <a:cs typeface="ヒラギノ角ゴ Pro W3"/>
              </a:rPr>
              <a:t>目的：募集</a:t>
            </a:r>
            <a:endParaRPr lang="en-US" altLang="ja-JP" sz="6600" dirty="0">
              <a:latin typeface="+mn-ea"/>
              <a:cs typeface="ヒラギノ角ゴ Pro W3"/>
            </a:endParaRPr>
          </a:p>
          <a:p>
            <a:pPr algn="ctr"/>
            <a:r>
              <a:rPr lang="ja-JP" altLang="en-US" sz="4400" dirty="0"/>
              <a:t>リアルタイムで会話ができる</a:t>
            </a:r>
            <a:endParaRPr lang="en-US" altLang="ja-JP" sz="4400" dirty="0"/>
          </a:p>
          <a:p>
            <a:pPr algn="ctr"/>
            <a:r>
              <a:rPr lang="en-US" altLang="ja-JP" sz="4400" dirty="0"/>
              <a:t>zoom</a:t>
            </a:r>
            <a:r>
              <a:rPr lang="ja-JP" altLang="en-US" sz="4400" dirty="0"/>
              <a:t>を使う方が</a:t>
            </a:r>
          </a:p>
          <a:p>
            <a:pPr algn="ctr"/>
            <a:r>
              <a:rPr lang="ja-JP" altLang="en-US" sz="4400" dirty="0"/>
              <a:t>信頼関係も深めやすいし</a:t>
            </a:r>
            <a:endParaRPr lang="en-US" altLang="ja-JP" sz="4400" dirty="0"/>
          </a:p>
          <a:p>
            <a:pPr algn="ctr"/>
            <a:r>
              <a:rPr lang="ja-JP" altLang="en-US" sz="4400" dirty="0"/>
              <a:t>お申込みもいただきやすい</a:t>
            </a:r>
            <a:endParaRPr lang="en-US" altLang="ja-JP" sz="4400" dirty="0">
              <a:latin typeface="+mn-ea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1107007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/>
          <p:nvPr/>
        </p:nvSpPr>
        <p:spPr>
          <a:xfrm>
            <a:off x="1" y="1869454"/>
            <a:ext cx="12192000" cy="3119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シークレットライブも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ヒラギノ角ゴ Pro W3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en-US" altLang="ja-JP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Zoom</a:t>
            </a: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ライブもやってるのに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ヒラギノ角ゴ Pro W3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なかなか売上に結びつかない？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135469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Shape 569"/>
          <p:cNvSpPr/>
          <p:nvPr/>
        </p:nvSpPr>
        <p:spPr>
          <a:xfrm>
            <a:off x="1432517" y="1315454"/>
            <a:ext cx="9335452" cy="4227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その理由は</a:t>
            </a:r>
            <a:endParaRPr lang="en-US" altLang="ja-JP" sz="54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Hiragino Kaku Gothic Pro W3" charset="-128"/>
            </a:endParaRPr>
          </a:p>
          <a:p>
            <a:pPr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・ライブ集客が</a:t>
            </a:r>
            <a:r>
              <a:rPr lang="ja-JP" altLang="en-US" sz="5400" dirty="0">
                <a:solidFill>
                  <a:srgbClr val="E3022C"/>
                </a:solidFill>
                <a:latin typeface="+mn-ea"/>
                <a:cs typeface="Hiragino Kaku Gothic Pro W3" charset="-128"/>
              </a:rPr>
              <a:t>単発</a:t>
            </a:r>
            <a:r>
              <a:rPr lang="ja-JP" altLang="en-US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になっている</a:t>
            </a:r>
            <a:endParaRPr lang="en-US" altLang="ja-JP" sz="54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Hiragino Kaku Gothic Pro W3" charset="-128"/>
            </a:endParaRPr>
          </a:p>
          <a:p>
            <a:pPr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・落としどころがない</a:t>
            </a:r>
            <a:endParaRPr lang="en-US" altLang="ja-JP" sz="54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Hiragino Kaku Gothic Pro W3" charset="-128"/>
            </a:endParaRPr>
          </a:p>
          <a:p>
            <a:pPr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・</a:t>
            </a:r>
            <a:r>
              <a:rPr lang="ja-JP" altLang="en-US" sz="5400" dirty="0">
                <a:solidFill>
                  <a:srgbClr val="E3022C"/>
                </a:solidFill>
                <a:latin typeface="+mn-ea"/>
                <a:cs typeface="Hiragino Kaku Gothic Pro W3" charset="-128"/>
              </a:rPr>
              <a:t>流れ・戦略</a:t>
            </a:r>
            <a:r>
              <a:rPr lang="ja-JP" altLang="en-US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がない</a:t>
            </a:r>
            <a:endParaRPr lang="en-US" altLang="ja-JP" sz="54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Hiragino Kaku Gothic Pro W3" charset="-128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ということでした。</a:t>
            </a:r>
            <a:endParaRPr lang="en-US" sz="54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Hiragino Kaku Gothic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73070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81"/>
          <p:cNvSpPr/>
          <p:nvPr/>
        </p:nvSpPr>
        <p:spPr>
          <a:xfrm>
            <a:off x="1102864" y="2404374"/>
            <a:ext cx="10114241" cy="2054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11299" tIns="11299" rIns="11299" bIns="11299" anchor="ctr">
            <a:spAutoFit/>
          </a:bodyPr>
          <a:lstStyle/>
          <a:p>
            <a:pPr algn="ctr"/>
            <a:r>
              <a:rPr lang="ja-JP" altLang="en-US" sz="6600" dirty="0"/>
              <a:t>２つ目の必殺技</a:t>
            </a:r>
            <a:endParaRPr lang="en-US" altLang="ja-JP" sz="6600" dirty="0"/>
          </a:p>
          <a:p>
            <a:pPr algn="ctr"/>
            <a:r>
              <a:rPr lang="ja-JP" altLang="en-US" sz="6600" dirty="0">
                <a:solidFill>
                  <a:srgbClr val="E3022C"/>
                </a:solidFill>
              </a:rPr>
              <a:t>チャレンジライブ</a:t>
            </a:r>
            <a:endParaRPr lang="en-US" altLang="ja-JP" sz="6600" dirty="0">
              <a:solidFill>
                <a:srgbClr val="E3022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4242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81"/>
          <p:cNvSpPr/>
          <p:nvPr/>
        </p:nvSpPr>
        <p:spPr>
          <a:xfrm>
            <a:off x="1528878" y="1050155"/>
            <a:ext cx="8424820" cy="4762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11299" tIns="11299" rIns="11299" bIns="11299" anchor="ctr">
            <a:spAutoFit/>
          </a:bodyPr>
          <a:lstStyle/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en-US" altLang="ja-JP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6.</a:t>
            </a: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チャレンジライブ</a:t>
            </a:r>
            <a:br>
              <a:rPr lang="en-US" altLang="ja-JP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</a:b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目的：複合技</a:t>
            </a:r>
            <a:br>
              <a:rPr lang="en-US" altLang="ja-JP" sz="6600" dirty="0">
                <a:latin typeface="+mn-ea"/>
                <a:cs typeface="ヒラギノ角ゴ Pro W3"/>
              </a:rPr>
            </a:br>
            <a:r>
              <a:rPr lang="ja-JP" altLang="en-US" sz="4400" dirty="0">
                <a:solidFill>
                  <a:schemeClr val="tx1">
                    <a:lumMod val="95000"/>
                    <a:lumOff val="5000"/>
                  </a:schemeClr>
                </a:solidFill>
                <a:uFill>
                  <a:solidFill>
                    <a:srgbClr val="525252"/>
                  </a:solidFill>
                </a:uFill>
                <a:latin typeface="+mn-ea"/>
                <a:cs typeface="Hiragino Kaku Gothic Pro W3" charset="-128"/>
                <a:sym typeface="Gill Sans Light"/>
              </a:rPr>
              <a:t>・</a:t>
            </a:r>
            <a:r>
              <a:rPr lang="ja-JP" altLang="en-US" sz="4400" dirty="0">
                <a:solidFill>
                  <a:schemeClr val="tx1">
                    <a:lumMod val="95000"/>
                    <a:lumOff val="5000"/>
                  </a:schemeClr>
                </a:solidFill>
                <a:uFill>
                  <a:solidFill>
                    <a:srgbClr val="525252"/>
                  </a:solidFill>
                </a:uFill>
                <a:sym typeface="Gill Sans Light"/>
              </a:rPr>
              <a:t>価値提供からセールスまでを</a:t>
            </a:r>
          </a:p>
          <a:p>
            <a:pPr algn="ctr"/>
            <a:r>
              <a:rPr lang="ja-JP" altLang="en-US" sz="4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　</a:t>
            </a:r>
            <a:r>
              <a:rPr lang="ja-JP" altLang="en-US" sz="4400" dirty="0">
                <a:solidFill>
                  <a:srgbClr val="E3022C"/>
                </a:solidFill>
              </a:rPr>
              <a:t>一気通貫で連続してやってしまう</a:t>
            </a:r>
            <a:endParaRPr lang="en-US" altLang="ja-JP" sz="4400" dirty="0">
              <a:solidFill>
                <a:srgbClr val="E3022C"/>
              </a:solidFill>
            </a:endParaRPr>
          </a:p>
          <a:p>
            <a:pPr algn="ctr"/>
            <a:r>
              <a:rPr lang="ja-JP" alt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・</a:t>
            </a:r>
            <a:r>
              <a:rPr lang="en-US" altLang="ja-JP" sz="4400" dirty="0">
                <a:solidFill>
                  <a:srgbClr val="E3022C"/>
                </a:solidFill>
              </a:rPr>
              <a:t>1,2</a:t>
            </a:r>
            <a:r>
              <a:rPr lang="ja-JP" altLang="en-US" sz="4400" dirty="0">
                <a:solidFill>
                  <a:srgbClr val="E3022C"/>
                </a:solidFill>
              </a:rPr>
              <a:t>週間で</a:t>
            </a:r>
            <a:r>
              <a:rPr lang="en-US" altLang="ja-JP" sz="4400" dirty="0">
                <a:solidFill>
                  <a:srgbClr val="E3022C"/>
                </a:solidFill>
              </a:rPr>
              <a:t>100</a:t>
            </a:r>
            <a:r>
              <a:rPr lang="ja-JP" altLang="en-US" sz="4400" dirty="0">
                <a:solidFill>
                  <a:srgbClr val="E3022C"/>
                </a:solidFill>
              </a:rPr>
              <a:t>万円～</a:t>
            </a:r>
            <a:r>
              <a:rPr lang="en-US" altLang="ja-JP" sz="4400" dirty="0">
                <a:solidFill>
                  <a:srgbClr val="E3022C"/>
                </a:solidFill>
              </a:rPr>
              <a:t>200</a:t>
            </a:r>
            <a:r>
              <a:rPr lang="ja-JP" altLang="en-US" sz="4400" dirty="0">
                <a:solidFill>
                  <a:srgbClr val="E3022C"/>
                </a:solidFill>
              </a:rPr>
              <a:t>万円</a:t>
            </a:r>
            <a:r>
              <a:rPr lang="ja-JP" altLang="en-US" sz="4400" dirty="0"/>
              <a:t>を</a:t>
            </a:r>
            <a:endParaRPr lang="en-US" altLang="ja-JP" sz="4400" dirty="0"/>
          </a:p>
          <a:p>
            <a:pPr algn="ctr"/>
            <a:r>
              <a:rPr lang="ja-JP" altLang="en-US" sz="4400" dirty="0"/>
              <a:t>　売り上げることも夢ではない</a:t>
            </a:r>
            <a:endParaRPr lang="en-US" altLang="ja-JP" sz="44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Hiragino Kaku Gothic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47329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/>
          <p:nvPr/>
        </p:nvSpPr>
        <p:spPr>
          <a:xfrm>
            <a:off x="1609342" y="1315457"/>
            <a:ext cx="8983066" cy="4227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pPr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・３日間チャレンジ、５日間</a:t>
            </a:r>
            <a:endParaRPr lang="en-US" altLang="ja-JP" sz="54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ヒラギノ角ゴ Pro W3"/>
            </a:endParaRPr>
          </a:p>
          <a:p>
            <a:pPr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　チャレンジ、７日間チャレンジ</a:t>
            </a:r>
            <a:endParaRPr lang="en-US" altLang="ja-JP" sz="54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ヒラギノ角ゴ Pro W3"/>
            </a:endParaRPr>
          </a:p>
          <a:p>
            <a:pPr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・別名「チャレンジローンチ」</a:t>
            </a:r>
            <a:endParaRPr lang="en-US" altLang="ja-JP" sz="54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ヒラギノ角ゴ Pro W3"/>
            </a:endParaRPr>
          </a:p>
          <a:p>
            <a:pPr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・海外のトップマーケッターが</a:t>
            </a:r>
            <a:endParaRPr lang="en-US" altLang="ja-JP" sz="54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ヒラギノ角ゴ Pro W3"/>
            </a:endParaRPr>
          </a:p>
          <a:p>
            <a:pPr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rPr lang="ja-JP" altLang="en-US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　こぞってやってる手法</a:t>
            </a:r>
            <a:endParaRPr lang="en-US" altLang="ja-JP" sz="54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2027948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/>
          <p:nvPr/>
        </p:nvSpPr>
        <p:spPr>
          <a:xfrm>
            <a:off x="1087584" y="899959"/>
            <a:ext cx="10023764" cy="5058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r>
              <a:rPr lang="ja-JP" altLang="en-US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・</a:t>
            </a:r>
            <a:r>
              <a:rPr lang="ja-JP" altLang="en-US" sz="5400" dirty="0"/>
              <a:t>複数回の</a:t>
            </a:r>
            <a:endParaRPr lang="en-US" altLang="ja-JP" sz="5400" dirty="0"/>
          </a:p>
          <a:p>
            <a:r>
              <a:rPr lang="ja-JP" altLang="en-US" sz="5400" dirty="0"/>
              <a:t>　シークレットライブ・</a:t>
            </a:r>
            <a:r>
              <a:rPr lang="en-US" altLang="ja-JP" sz="5400" dirty="0"/>
              <a:t>zoom</a:t>
            </a:r>
            <a:r>
              <a:rPr lang="ja-JP" altLang="en-US" sz="5400" dirty="0"/>
              <a:t>ライブを</a:t>
            </a:r>
          </a:p>
          <a:p>
            <a:r>
              <a:rPr lang="ja-JP" altLang="en-US" sz="5400" dirty="0"/>
              <a:t>　シークレットグループで行う</a:t>
            </a:r>
            <a:endParaRPr lang="en-US" altLang="ja-JP" sz="5400" dirty="0"/>
          </a:p>
          <a:p>
            <a:r>
              <a:rPr lang="ja-JP" altLang="en-US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ヒラギノ角ゴ Pro W3"/>
              </a:rPr>
              <a:t>・</a:t>
            </a:r>
            <a:r>
              <a:rPr lang="ja-JP" altLang="en-US" sz="5400" dirty="0"/>
              <a:t>毎回のライブに課題がある</a:t>
            </a:r>
          </a:p>
          <a:p>
            <a:r>
              <a:rPr lang="ja-JP" altLang="en-US" sz="5400" dirty="0"/>
              <a:t>・体験型で楽しいので</a:t>
            </a:r>
            <a:endParaRPr lang="en-US" altLang="ja-JP" sz="5400" dirty="0"/>
          </a:p>
          <a:p>
            <a:r>
              <a:rPr lang="ja-JP" altLang="en-US" sz="5400" dirty="0"/>
              <a:t>　</a:t>
            </a:r>
            <a:r>
              <a:rPr lang="ja-JP" altLang="en-US" sz="5400" dirty="0">
                <a:solidFill>
                  <a:srgbClr val="E3022C"/>
                </a:solidFill>
              </a:rPr>
              <a:t>集中して聴いてもらえる</a:t>
            </a:r>
            <a:endParaRPr lang="en-US" altLang="ja-JP" sz="5400" dirty="0">
              <a:solidFill>
                <a:srgbClr val="E3022C"/>
              </a:solidFill>
              <a:latin typeface="+mn-ea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763392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/>
          <p:cNvGraphicFramePr/>
          <p:nvPr>
            <p:extLst>
              <p:ext uri="{D42A27DB-BD31-4B8C-83A1-F6EECF244321}">
                <p14:modId xmlns:p14="http://schemas.microsoft.com/office/powerpoint/2010/main" val="491588669"/>
              </p:ext>
            </p:extLst>
          </p:nvPr>
        </p:nvGraphicFramePr>
        <p:xfrm>
          <a:off x="-1625" y="719666"/>
          <a:ext cx="12193625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81" name="Shape 381"/>
          <p:cNvSpPr/>
          <p:nvPr/>
        </p:nvSpPr>
        <p:spPr>
          <a:xfrm>
            <a:off x="234085" y="1397369"/>
            <a:ext cx="11872571" cy="903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pPr algn="ctr"/>
            <a:r>
              <a:rPr lang="ja-JP" altLang="en-US" sz="5400" dirty="0"/>
              <a:t>チャレンジライブの流れ</a:t>
            </a:r>
            <a:endParaRPr lang="en-US" altLang="ja-JP" sz="5400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87785" y="4001415"/>
            <a:ext cx="1107996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dirty="0"/>
              <a:t>課題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自己紹介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016151" y="4001415"/>
            <a:ext cx="877163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dirty="0"/>
              <a:t>全体像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課題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752360" y="4001414"/>
            <a:ext cx="1059906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dirty="0"/>
              <a:t>ポイント</a:t>
            </a:r>
            <a:r>
              <a:rPr kumimoji="1" lang="en-US" altLang="ja-JP" dirty="0"/>
              <a:t>1</a:t>
            </a:r>
          </a:p>
          <a:p>
            <a:pPr algn="ctr"/>
            <a:r>
              <a:rPr kumimoji="1" lang="ja-JP" altLang="en-US" dirty="0"/>
              <a:t>課題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557993" y="4001413"/>
            <a:ext cx="1059906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/>
              <a:t>ポイント</a:t>
            </a:r>
            <a:r>
              <a:rPr lang="en-US" altLang="ja-JP" dirty="0"/>
              <a:t>2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課題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7392531" y="4001413"/>
            <a:ext cx="1059906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ポイント</a:t>
            </a:r>
            <a:r>
              <a:rPr kumimoji="1" lang="en-US" altLang="ja-JP"/>
              <a:t>3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課題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9079577" y="4001412"/>
            <a:ext cx="1297086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Zoom</a:t>
            </a:r>
            <a:r>
              <a:rPr kumimoji="1" lang="ja-JP" altLang="en-US" dirty="0"/>
              <a:t>ライブ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セールス</a:t>
            </a: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0901237" y="4001411"/>
            <a:ext cx="1255473" cy="92333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dirty="0"/>
              <a:t>セールス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期間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追いライブ</a:t>
            </a:r>
          </a:p>
        </p:txBody>
      </p:sp>
    </p:spTree>
    <p:extLst>
      <p:ext uri="{BB962C8B-B14F-4D97-AF65-F5344CB8AC3E}">
        <p14:creationId xmlns:p14="http://schemas.microsoft.com/office/powerpoint/2010/main" val="2859928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/>
          <p:nvPr/>
        </p:nvSpPr>
        <p:spPr>
          <a:xfrm>
            <a:off x="234085" y="1546291"/>
            <a:ext cx="11872571" cy="3765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pPr algn="ctr"/>
            <a:r>
              <a:rPr lang="ja-JP" altLang="en-US" sz="6000" dirty="0"/>
              <a:t>短期間にお客さんとたくさん</a:t>
            </a:r>
            <a:endParaRPr lang="en-US" altLang="ja-JP" sz="6000" dirty="0"/>
          </a:p>
          <a:p>
            <a:pPr algn="ctr"/>
            <a:r>
              <a:rPr lang="ja-JP" altLang="en-US" sz="6000" dirty="0"/>
              <a:t>コミュニケーションが取れるので</a:t>
            </a:r>
            <a:endParaRPr lang="en-US" altLang="ja-JP" sz="6000" dirty="0"/>
          </a:p>
          <a:p>
            <a:pPr algn="ctr"/>
            <a:r>
              <a:rPr lang="ja-JP" altLang="en-US" sz="6000" dirty="0">
                <a:solidFill>
                  <a:srgbClr val="E3022C"/>
                </a:solidFill>
              </a:rPr>
              <a:t>顧客理解</a:t>
            </a:r>
            <a:r>
              <a:rPr lang="ja-JP" altLang="en-US" sz="6000" dirty="0"/>
              <a:t>が進み</a:t>
            </a:r>
            <a:endParaRPr lang="en-US" altLang="ja-JP" sz="6000" dirty="0"/>
          </a:p>
          <a:p>
            <a:pPr algn="ctr"/>
            <a:r>
              <a:rPr lang="ja-JP" altLang="en-US" sz="6000" dirty="0">
                <a:solidFill>
                  <a:srgbClr val="E3022C"/>
                </a:solidFill>
              </a:rPr>
              <a:t>信頼関係</a:t>
            </a:r>
            <a:r>
              <a:rPr lang="ja-JP" altLang="en-US" sz="6000" dirty="0"/>
              <a:t>もできる</a:t>
            </a:r>
            <a:endParaRPr lang="en-US" altLang="ja-JP" sz="6000" dirty="0"/>
          </a:p>
        </p:txBody>
      </p:sp>
    </p:spTree>
    <p:extLst>
      <p:ext uri="{BB962C8B-B14F-4D97-AF65-F5344CB8AC3E}">
        <p14:creationId xmlns:p14="http://schemas.microsoft.com/office/powerpoint/2010/main" val="621931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/>
          <p:nvPr/>
        </p:nvSpPr>
        <p:spPr>
          <a:xfrm>
            <a:off x="336499" y="853793"/>
            <a:ext cx="11528754" cy="5150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pPr algn="ctr"/>
            <a:r>
              <a:rPr lang="ja-JP" altLang="en-US" sz="6600" dirty="0"/>
              <a:t>お客さんが</a:t>
            </a:r>
            <a:endParaRPr lang="en-US" altLang="ja-JP" sz="6600" dirty="0"/>
          </a:p>
          <a:p>
            <a:pPr algn="ctr"/>
            <a:r>
              <a:rPr lang="ja-JP" altLang="en-US" sz="6600" dirty="0"/>
              <a:t>どんどん前のめりに</a:t>
            </a:r>
            <a:endParaRPr lang="en-US" altLang="ja-JP" sz="6600" dirty="0"/>
          </a:p>
          <a:p>
            <a:pPr algn="ctr"/>
            <a:r>
              <a:rPr lang="ja-JP" altLang="en-US" sz="6600" dirty="0"/>
              <a:t>なるので</a:t>
            </a:r>
            <a:r>
              <a:rPr lang="ja-JP" altLang="en-US" sz="6600" dirty="0">
                <a:solidFill>
                  <a:srgbClr val="E3022C"/>
                </a:solidFill>
              </a:rPr>
              <a:t>成約率が高くなる</a:t>
            </a:r>
            <a:endParaRPr lang="en-US" altLang="ja-JP" sz="6600" dirty="0">
              <a:solidFill>
                <a:srgbClr val="E3022C"/>
              </a:solidFill>
            </a:endParaRPr>
          </a:p>
          <a:p>
            <a:pPr algn="ctr"/>
            <a:r>
              <a:rPr lang="ja-JP" altLang="en-US" sz="6600" dirty="0">
                <a:solidFill>
                  <a:srgbClr val="E3022C"/>
                </a:solidFill>
              </a:rPr>
              <a:t>成約率</a:t>
            </a:r>
            <a:r>
              <a:rPr lang="en-US" altLang="ja-JP" sz="6600" dirty="0">
                <a:solidFill>
                  <a:srgbClr val="E3022C"/>
                </a:solidFill>
              </a:rPr>
              <a:t>30%</a:t>
            </a:r>
            <a:r>
              <a:rPr lang="ja-JP" altLang="en-US" sz="6600" dirty="0">
                <a:solidFill>
                  <a:srgbClr val="E3022C"/>
                </a:solidFill>
              </a:rPr>
              <a:t>～</a:t>
            </a:r>
            <a:r>
              <a:rPr lang="en-US" altLang="ja-JP" sz="6600" dirty="0">
                <a:solidFill>
                  <a:srgbClr val="E3022C"/>
                </a:solidFill>
              </a:rPr>
              <a:t>70%</a:t>
            </a:r>
          </a:p>
          <a:p>
            <a:pPr algn="ctr"/>
            <a:r>
              <a:rPr lang="ja-JP" altLang="en-US" sz="6600" dirty="0"/>
              <a:t>になる場合も！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1946711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81"/>
          <p:cNvSpPr/>
          <p:nvPr/>
        </p:nvSpPr>
        <p:spPr>
          <a:xfrm>
            <a:off x="2302119" y="1727264"/>
            <a:ext cx="7609742" cy="3408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11299" tIns="11299" rIns="11299" bIns="11299" anchor="ctr">
            <a:spAutoFit/>
          </a:bodyPr>
          <a:lstStyle/>
          <a:p>
            <a:pPr algn="ctr"/>
            <a:r>
              <a:rPr lang="en-US" altLang="ja-JP" sz="6600" dirty="0">
                <a:latin typeface="+mn-ea"/>
                <a:cs typeface="ヒラギノ角ゴ Pro W3"/>
              </a:rPr>
              <a:t>7.</a:t>
            </a:r>
            <a:r>
              <a:rPr lang="ja-JP" altLang="en-US" sz="6600" dirty="0">
                <a:latin typeface="+mn-ea"/>
                <a:cs typeface="ヒラギノ角ゴ Pro W3"/>
              </a:rPr>
              <a:t>顔出ししないライブ</a:t>
            </a:r>
            <a:br>
              <a:rPr lang="en-US" altLang="ja-JP" sz="6600" dirty="0">
                <a:latin typeface="+mn-ea"/>
                <a:cs typeface="ヒラギノ角ゴ Pro W3"/>
              </a:rPr>
            </a:br>
            <a:r>
              <a:rPr lang="ja-JP" altLang="en-US" sz="6600" dirty="0">
                <a:latin typeface="+mn-ea"/>
                <a:cs typeface="ヒラギノ角ゴ Pro W3"/>
              </a:rPr>
              <a:t>番外編</a:t>
            </a:r>
            <a:endParaRPr lang="en-US" altLang="ja-JP" sz="6600" dirty="0">
              <a:latin typeface="+mn-ea"/>
              <a:cs typeface="ヒラギノ角ゴ Pro W3"/>
            </a:endParaRPr>
          </a:p>
          <a:p>
            <a:pPr algn="ctr"/>
            <a:r>
              <a:rPr lang="en-US" altLang="ja-JP" sz="4400" dirty="0">
                <a:latin typeface="+mn-ea"/>
                <a:cs typeface="ヒラギノ角ゴ Pro W3"/>
              </a:rPr>
              <a:t>zoom</a:t>
            </a:r>
            <a:r>
              <a:rPr lang="ja-JP" altLang="en-US" sz="4400" dirty="0">
                <a:latin typeface="+mn-ea"/>
                <a:cs typeface="ヒラギノ角ゴ Pro W3"/>
              </a:rPr>
              <a:t>等と組み合わせると</a:t>
            </a:r>
            <a:endParaRPr lang="en-US" altLang="ja-JP" sz="4400" dirty="0">
              <a:latin typeface="+mn-ea"/>
              <a:cs typeface="ヒラギノ角ゴ Pro W3"/>
            </a:endParaRPr>
          </a:p>
          <a:p>
            <a:pPr algn="ctr"/>
            <a:r>
              <a:rPr lang="ja-JP" altLang="en-US" sz="4400" dirty="0">
                <a:latin typeface="+mn-ea"/>
                <a:cs typeface="ヒラギノ角ゴ Pro W3"/>
              </a:rPr>
              <a:t>顔出しなしのライブができる</a:t>
            </a:r>
            <a:endParaRPr lang="en-US" altLang="ja-JP" sz="4400" dirty="0">
              <a:latin typeface="+mn-ea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3021890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81"/>
          <p:cNvSpPr/>
          <p:nvPr/>
        </p:nvSpPr>
        <p:spPr>
          <a:xfrm>
            <a:off x="2302119" y="437262"/>
            <a:ext cx="7609742" cy="5988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11299" tIns="11299" rIns="11299" bIns="11299" anchor="ctr">
            <a:spAutoFit/>
          </a:bodyPr>
          <a:lstStyle/>
          <a:p>
            <a:r>
              <a:rPr lang="en-US" altLang="ja-JP" sz="5538" dirty="0">
                <a:latin typeface="+mn-ea"/>
                <a:cs typeface="ヒラギノ角ゴ Pro W3"/>
              </a:rPr>
              <a:t>1.</a:t>
            </a:r>
            <a:r>
              <a:rPr lang="ja-JP" altLang="en-US" sz="5538" dirty="0">
                <a:latin typeface="+mn-ea"/>
                <a:cs typeface="ヒラギノ角ゴ Pro W3"/>
              </a:rPr>
              <a:t>歩きライブ</a:t>
            </a:r>
            <a:endParaRPr lang="en-US" altLang="ja-JP" sz="5538" dirty="0">
              <a:latin typeface="+mn-ea"/>
              <a:cs typeface="ヒラギノ角ゴ Pro W3"/>
            </a:endParaRPr>
          </a:p>
          <a:p>
            <a:r>
              <a:rPr lang="en-US" altLang="ja-JP" sz="5538" dirty="0">
                <a:latin typeface="+mn-ea"/>
                <a:cs typeface="ヒラギノ角ゴ Pro W3"/>
              </a:rPr>
              <a:t>2.</a:t>
            </a:r>
            <a:r>
              <a:rPr lang="ja-JP" altLang="en-US" sz="5538" dirty="0">
                <a:latin typeface="+mn-ea"/>
                <a:cs typeface="ヒラギノ角ゴ Pro W3"/>
              </a:rPr>
              <a:t>ひとりライブ</a:t>
            </a:r>
            <a:endParaRPr lang="en-US" altLang="ja-JP" sz="5538" dirty="0">
              <a:latin typeface="+mn-ea"/>
              <a:cs typeface="ヒラギノ角ゴ Pro W3"/>
            </a:endParaRPr>
          </a:p>
          <a:p>
            <a:r>
              <a:rPr lang="en-US" altLang="ja-JP" sz="5538" dirty="0">
                <a:latin typeface="+mn-ea"/>
                <a:cs typeface="ヒラギノ角ゴ Pro W3"/>
              </a:rPr>
              <a:t>3.</a:t>
            </a:r>
            <a:r>
              <a:rPr lang="ja-JP" altLang="en-US" sz="5538" dirty="0">
                <a:latin typeface="+mn-ea"/>
                <a:cs typeface="ヒラギノ角ゴ Pro W3"/>
              </a:rPr>
              <a:t>対談ライブ</a:t>
            </a:r>
            <a:endParaRPr lang="en-US" altLang="ja-JP" sz="5538" dirty="0">
              <a:latin typeface="+mn-ea"/>
              <a:cs typeface="ヒラギノ角ゴ Pro W3"/>
            </a:endParaRPr>
          </a:p>
          <a:p>
            <a:r>
              <a:rPr lang="en-US" altLang="ja-JP" sz="5538" dirty="0">
                <a:latin typeface="+mn-ea"/>
                <a:cs typeface="ヒラギノ角ゴ Pro W3"/>
              </a:rPr>
              <a:t>4.</a:t>
            </a:r>
            <a:r>
              <a:rPr lang="ja-JP" altLang="en-US" sz="5538" dirty="0">
                <a:latin typeface="+mn-ea"/>
                <a:cs typeface="ヒラギノ角ゴ Pro W3"/>
              </a:rPr>
              <a:t>シークレットライブ</a:t>
            </a:r>
            <a:endParaRPr lang="en-US" altLang="ja-JP" sz="5538" dirty="0">
              <a:latin typeface="+mn-ea"/>
              <a:cs typeface="ヒラギノ角ゴ Pro W3"/>
            </a:endParaRPr>
          </a:p>
          <a:p>
            <a:r>
              <a:rPr lang="en-US" altLang="ja-JP" sz="5538" dirty="0">
                <a:latin typeface="+mn-ea"/>
                <a:cs typeface="ヒラギノ角ゴ Pro W3"/>
              </a:rPr>
              <a:t>5.zoom</a:t>
            </a:r>
            <a:r>
              <a:rPr lang="ja-JP" altLang="en-US" sz="5538" dirty="0">
                <a:latin typeface="+mn-ea"/>
                <a:cs typeface="ヒラギノ角ゴ Pro W3"/>
              </a:rPr>
              <a:t>ライブ</a:t>
            </a:r>
            <a:endParaRPr lang="en-US" altLang="ja-JP" sz="5538" dirty="0">
              <a:latin typeface="+mn-ea"/>
              <a:cs typeface="ヒラギノ角ゴ Pro W3"/>
            </a:endParaRPr>
          </a:p>
          <a:p>
            <a:r>
              <a:rPr lang="en-US" altLang="ja-JP" sz="5538" dirty="0">
                <a:latin typeface="+mn-ea"/>
                <a:cs typeface="ヒラギノ角ゴ Pro W3"/>
              </a:rPr>
              <a:t>6.</a:t>
            </a:r>
            <a:r>
              <a:rPr lang="ja-JP" altLang="en-US" sz="5538" dirty="0">
                <a:latin typeface="+mn-ea"/>
                <a:cs typeface="ヒラギノ角ゴ Pro W3"/>
              </a:rPr>
              <a:t>チャレンジライブ</a:t>
            </a:r>
            <a:endParaRPr lang="en-US" altLang="ja-JP" sz="5538" dirty="0">
              <a:latin typeface="+mn-ea"/>
              <a:cs typeface="ヒラギノ角ゴ Pro W3"/>
            </a:endParaRPr>
          </a:p>
          <a:p>
            <a:r>
              <a:rPr lang="en-US" altLang="ja-JP" sz="5538" dirty="0">
                <a:latin typeface="+mn-ea"/>
                <a:cs typeface="ヒラギノ角ゴ Pro W3"/>
              </a:rPr>
              <a:t>7.</a:t>
            </a:r>
            <a:r>
              <a:rPr lang="ja-JP" altLang="en-US" sz="5538" dirty="0">
                <a:latin typeface="+mn-ea"/>
                <a:cs typeface="ヒラギノ角ゴ Pro W3"/>
              </a:rPr>
              <a:t>顔出ししないライブ</a:t>
            </a:r>
            <a:endParaRPr lang="en-US" altLang="ja-JP" sz="5538" dirty="0">
              <a:latin typeface="+mn-ea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3071045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0" y="2374284"/>
            <a:ext cx="1219199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6600" dirty="0">
                <a:latin typeface="+mn-ea"/>
              </a:rPr>
              <a:t>①学んだこと</a:t>
            </a:r>
            <a:endParaRPr lang="en-US" altLang="ja-JP" sz="6600" dirty="0">
              <a:latin typeface="+mn-ea"/>
            </a:endParaRPr>
          </a:p>
          <a:p>
            <a:pPr algn="ctr"/>
            <a:r>
              <a:rPr lang="ja-JP" altLang="en-US" sz="6600" dirty="0">
                <a:latin typeface="+mn-ea"/>
              </a:rPr>
              <a:t>②取り入れようと思ったこと</a:t>
            </a:r>
            <a:endParaRPr kumimoji="1" lang="ja-JP" altLang="en-US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0265138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81"/>
          <p:cNvSpPr/>
          <p:nvPr/>
        </p:nvSpPr>
        <p:spPr>
          <a:xfrm>
            <a:off x="415636" y="1850374"/>
            <a:ext cx="11291455" cy="3162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11299" tIns="11299" rIns="11299" bIns="11299" anchor="ctr">
            <a:spAutoFit/>
          </a:bodyPr>
          <a:lstStyle/>
          <a:p>
            <a:pPr algn="ctr"/>
            <a:r>
              <a:rPr lang="ja-JP" altLang="en-US" sz="6600" dirty="0">
                <a:solidFill>
                  <a:srgbClr val="E3022C"/>
                </a:solidFill>
                <a:latin typeface="+mn-ea"/>
                <a:cs typeface="Hiragino Kaku Gothic Pro W3" charset="-128"/>
              </a:rPr>
              <a:t>月商</a:t>
            </a:r>
            <a:r>
              <a:rPr lang="en-US" altLang="ja-JP" sz="6600" dirty="0">
                <a:solidFill>
                  <a:srgbClr val="E3022C"/>
                </a:solidFill>
                <a:latin typeface="+mn-ea"/>
                <a:cs typeface="Hiragino Kaku Gothic Pro W3" charset="-128"/>
              </a:rPr>
              <a:t>100</a:t>
            </a:r>
            <a:r>
              <a:rPr lang="ja-JP" altLang="en-US" sz="6600" dirty="0">
                <a:solidFill>
                  <a:srgbClr val="E3022C"/>
                </a:solidFill>
                <a:latin typeface="+mn-ea"/>
                <a:cs typeface="Hiragino Kaku Gothic Pro W3" charset="-128"/>
              </a:rPr>
              <a:t>万円</a:t>
            </a: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売上げるためには</a:t>
            </a:r>
            <a:endParaRPr lang="en-US" altLang="ja-JP" sz="6600" dirty="0">
              <a:latin typeface="+mn-ea"/>
              <a:cs typeface="ヒラギノ角ゴ Pro W3"/>
            </a:endParaRPr>
          </a:p>
          <a:p>
            <a:pPr algn="ctr"/>
            <a:r>
              <a:rPr lang="ja-JP" altLang="en-US" sz="7200" dirty="0">
                <a:solidFill>
                  <a:srgbClr val="E3022C"/>
                </a:solidFill>
                <a:latin typeface="+mn-ea"/>
                <a:cs typeface="ヒラギノ角ゴ Pro W3"/>
              </a:rPr>
              <a:t>７種類のライブ集客</a:t>
            </a:r>
            <a:endParaRPr lang="en-US" altLang="ja-JP" sz="7200" dirty="0">
              <a:solidFill>
                <a:srgbClr val="E3022C"/>
              </a:solidFill>
              <a:latin typeface="+mn-ea"/>
              <a:cs typeface="ヒラギノ角ゴ Pro W3"/>
            </a:endParaRPr>
          </a:p>
          <a:p>
            <a:pPr algn="ctr"/>
            <a:r>
              <a:rPr lang="ja-JP" altLang="en-US" sz="6600" dirty="0">
                <a:latin typeface="+mn-ea"/>
                <a:cs typeface="ヒラギノ角ゴ Pro W3"/>
              </a:rPr>
              <a:t>をやるだけではダメ！</a:t>
            </a:r>
            <a:endParaRPr lang="en-US" altLang="ja-JP" sz="6600" dirty="0">
              <a:latin typeface="+mn-ea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4019148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Shape 569"/>
          <p:cNvSpPr/>
          <p:nvPr/>
        </p:nvSpPr>
        <p:spPr>
          <a:xfrm>
            <a:off x="443346" y="883031"/>
            <a:ext cx="11291455" cy="5119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0" tIns="35710" rIns="35710" bIns="35710" anchor="ctr">
            <a:spAutoFit/>
          </a:bodyPr>
          <a:lstStyle/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月商</a:t>
            </a:r>
            <a:r>
              <a:rPr lang="en-US" altLang="ja-JP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100</a:t>
            </a:r>
            <a:r>
              <a:rPr lang="ja-JP" altLang="en-US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万円売上げる</a:t>
            </a:r>
            <a:endParaRPr lang="en-US" altLang="ja-JP" sz="54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Hiragino Kaku Gothic Pro W3" charset="-128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３つのステップ</a:t>
            </a:r>
            <a:endParaRPr lang="en-US" altLang="ja-JP" sz="54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Hiragino Kaku Gothic Pro W3" charset="-128"/>
            </a:endParaRPr>
          </a:p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　</a:t>
            </a:r>
            <a:r>
              <a:rPr lang="en-US" altLang="ja-JP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Hiragino Kaku Gothic Pro W3" charset="-128"/>
              </a:rPr>
              <a:t> </a:t>
            </a:r>
          </a:p>
          <a:p>
            <a:pPr defTabSz="315797">
              <a:buClr>
                <a:srgbClr val="525252"/>
              </a:buClr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en-US" altLang="ja-JP" sz="4400" dirty="0">
                <a:solidFill>
                  <a:schemeClr val="tx1">
                    <a:lumMod val="95000"/>
                    <a:lumOff val="5000"/>
                  </a:schemeClr>
                </a:solidFill>
                <a:uFill>
                  <a:solidFill>
                    <a:srgbClr val="525252"/>
                  </a:solidFill>
                </a:uFill>
                <a:latin typeface="+mn-ea"/>
                <a:cs typeface="Hiragino Kaku Gothic Pro W3" charset="-128"/>
                <a:sym typeface="Gill Sans Light"/>
              </a:rPr>
              <a:t>1. </a:t>
            </a:r>
            <a:r>
              <a:rPr lang="ja-JP" altLang="en-US" sz="4400" dirty="0">
                <a:solidFill>
                  <a:schemeClr val="tx1">
                    <a:lumMod val="95000"/>
                    <a:lumOff val="5000"/>
                  </a:schemeClr>
                </a:solidFill>
                <a:uFill>
                  <a:solidFill>
                    <a:srgbClr val="525252"/>
                  </a:solidFill>
                </a:uFill>
                <a:latin typeface="+mn-ea"/>
                <a:cs typeface="Hiragino Kaku Gothic Pro W3" charset="-128"/>
                <a:sym typeface="Gill Sans Light"/>
              </a:rPr>
              <a:t>オンラインで提供できる</a:t>
            </a:r>
            <a:endParaRPr lang="en-US" altLang="ja-JP" sz="4400" dirty="0">
              <a:solidFill>
                <a:schemeClr val="tx1">
                  <a:lumMod val="95000"/>
                  <a:lumOff val="5000"/>
                </a:schemeClr>
              </a:solidFill>
              <a:uFill>
                <a:solidFill>
                  <a:srgbClr val="525252"/>
                </a:solidFill>
              </a:uFill>
              <a:latin typeface="+mn-ea"/>
              <a:cs typeface="Hiragino Kaku Gothic Pro W3" charset="-128"/>
              <a:sym typeface="Gill Sans Light"/>
            </a:endParaRPr>
          </a:p>
          <a:p>
            <a:pPr defTabSz="315797">
              <a:buClr>
                <a:srgbClr val="525252"/>
              </a:buClr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ja-JP" altLang="en-US" sz="4400" dirty="0">
                <a:solidFill>
                  <a:srgbClr val="CC0000"/>
                </a:solidFill>
                <a:uFill>
                  <a:solidFill>
                    <a:srgbClr val="525252"/>
                  </a:solidFill>
                </a:uFill>
                <a:latin typeface="+mn-ea"/>
                <a:cs typeface="Hiragino Kaku Gothic Pro W3" charset="-128"/>
                <a:sym typeface="Gill Sans Light"/>
              </a:rPr>
              <a:t>　</a:t>
            </a:r>
            <a:r>
              <a:rPr lang="ja-JP" altLang="en-US" sz="4400" dirty="0">
                <a:solidFill>
                  <a:srgbClr val="E3022C"/>
                </a:solidFill>
                <a:uFill>
                  <a:solidFill>
                    <a:srgbClr val="525252"/>
                  </a:solidFill>
                </a:uFill>
                <a:latin typeface="+mn-ea"/>
                <a:cs typeface="Hiragino Kaku Gothic Pro W3" charset="-128"/>
                <a:sym typeface="Gill Sans Light"/>
              </a:rPr>
              <a:t>魅力的な高単価商品</a:t>
            </a:r>
            <a:r>
              <a:rPr lang="ja-JP" altLang="en-US" sz="4400" dirty="0">
                <a:solidFill>
                  <a:schemeClr val="tx1">
                    <a:lumMod val="95000"/>
                    <a:lumOff val="5000"/>
                  </a:schemeClr>
                </a:solidFill>
                <a:uFill>
                  <a:solidFill>
                    <a:srgbClr val="525252"/>
                  </a:solidFill>
                </a:uFill>
                <a:latin typeface="+mn-ea"/>
                <a:cs typeface="Hiragino Kaku Gothic Pro W3" charset="-128"/>
                <a:sym typeface="Gill Sans Light"/>
              </a:rPr>
              <a:t>を作る</a:t>
            </a:r>
            <a:endParaRPr lang="en-US" altLang="ja-JP" sz="4400" dirty="0">
              <a:solidFill>
                <a:schemeClr val="tx1">
                  <a:lumMod val="95000"/>
                  <a:lumOff val="5000"/>
                </a:schemeClr>
              </a:solidFill>
              <a:uFill>
                <a:solidFill>
                  <a:srgbClr val="525252"/>
                </a:solidFill>
              </a:uFill>
              <a:latin typeface="+mn-ea"/>
              <a:cs typeface="Hiragino Kaku Gothic Pro W3" charset="-128"/>
              <a:sym typeface="Gill Sans Light"/>
            </a:endParaRPr>
          </a:p>
          <a:p>
            <a:pPr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en-US" altLang="ja-JP" sz="4400" dirty="0">
                <a:solidFill>
                  <a:schemeClr val="tx1">
                    <a:lumMod val="95000"/>
                    <a:lumOff val="5000"/>
                  </a:schemeClr>
                </a:solidFill>
                <a:uFill>
                  <a:solidFill>
                    <a:srgbClr val="525252"/>
                  </a:solidFill>
                </a:uFill>
                <a:latin typeface="+mn-ea"/>
                <a:cs typeface="Hiragino Kaku Gothic Pro W3" charset="-128"/>
                <a:sym typeface="Gill Sans Light"/>
              </a:rPr>
              <a:t>2. </a:t>
            </a:r>
            <a:r>
              <a:rPr lang="ja-JP" altLang="en-US" sz="4400" dirty="0">
                <a:solidFill>
                  <a:schemeClr val="tx1">
                    <a:lumMod val="95000"/>
                    <a:lumOff val="5000"/>
                  </a:schemeClr>
                </a:solidFill>
                <a:uFill>
                  <a:solidFill>
                    <a:srgbClr val="525252"/>
                  </a:solidFill>
                </a:uFill>
                <a:latin typeface="+mn-ea"/>
                <a:cs typeface="Hiragino Kaku Gothic Pro W3" charset="-128"/>
                <a:sym typeface="Gill Sans Light"/>
              </a:rPr>
              <a:t>７種類のライブ集客で</a:t>
            </a:r>
            <a:r>
              <a:rPr lang="ja-JP" altLang="en-US" sz="4400" dirty="0">
                <a:solidFill>
                  <a:srgbClr val="E3022C"/>
                </a:solidFill>
                <a:uFill>
                  <a:solidFill>
                    <a:srgbClr val="525252"/>
                  </a:solidFill>
                </a:uFill>
                <a:latin typeface="+mn-ea"/>
                <a:cs typeface="Hiragino Kaku Gothic Pro W3" charset="-128"/>
                <a:sym typeface="Gill Sans Light"/>
              </a:rPr>
              <a:t>優良な見込客</a:t>
            </a:r>
            <a:r>
              <a:rPr lang="ja-JP" altLang="en-US" sz="4400" dirty="0">
                <a:solidFill>
                  <a:schemeClr val="tx1">
                    <a:lumMod val="95000"/>
                    <a:lumOff val="5000"/>
                  </a:schemeClr>
                </a:solidFill>
                <a:uFill>
                  <a:solidFill>
                    <a:srgbClr val="525252"/>
                  </a:solidFill>
                </a:uFill>
                <a:latin typeface="+mn-ea"/>
                <a:cs typeface="Hiragino Kaku Gothic Pro W3" charset="-128"/>
                <a:sym typeface="Gill Sans Light"/>
              </a:rPr>
              <a:t>を集める</a:t>
            </a:r>
            <a:endParaRPr lang="en-US" altLang="ja-JP" sz="4400" dirty="0">
              <a:solidFill>
                <a:schemeClr val="tx1">
                  <a:lumMod val="95000"/>
                  <a:lumOff val="5000"/>
                </a:schemeClr>
              </a:solidFill>
              <a:uFill>
                <a:solidFill>
                  <a:srgbClr val="525252"/>
                </a:solidFill>
              </a:uFill>
              <a:latin typeface="+mn-ea"/>
              <a:cs typeface="Hiragino Kaku Gothic Pro W3" charset="-128"/>
              <a:sym typeface="Gill Sans Light"/>
            </a:endParaRPr>
          </a:p>
          <a:p>
            <a:pPr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+mj-lt"/>
                <a:ea typeface="+mj-ea"/>
                <a:cs typeface="+mj-cs"/>
                <a:sym typeface="Gill Sans Light"/>
              </a:defRPr>
            </a:pPr>
            <a:r>
              <a:rPr lang="en-US" altLang="ja-JP" sz="4400" dirty="0">
                <a:solidFill>
                  <a:schemeClr val="tx1">
                    <a:lumMod val="95000"/>
                    <a:lumOff val="5000"/>
                  </a:schemeClr>
                </a:solidFill>
                <a:uFill>
                  <a:solidFill>
                    <a:srgbClr val="525252"/>
                  </a:solidFill>
                </a:uFill>
                <a:latin typeface="+mn-ea"/>
                <a:cs typeface="Hiragino Kaku Gothic Pro W3" charset="-128"/>
                <a:sym typeface="Gill Sans Light"/>
              </a:rPr>
              <a:t>3. </a:t>
            </a:r>
            <a:r>
              <a:rPr lang="ja-JP" altLang="en-US" sz="4400" dirty="0">
                <a:solidFill>
                  <a:schemeClr val="tx1">
                    <a:lumMod val="95000"/>
                    <a:lumOff val="5000"/>
                  </a:schemeClr>
                </a:solidFill>
                <a:uFill>
                  <a:solidFill>
                    <a:srgbClr val="525252"/>
                  </a:solidFill>
                </a:uFill>
                <a:latin typeface="+mn-ea"/>
                <a:cs typeface="Hiragino Kaku Gothic Pro W3" charset="-128"/>
                <a:sym typeface="Gill Sans Light"/>
              </a:rPr>
              <a:t>ファンになってもらい</a:t>
            </a:r>
            <a:r>
              <a:rPr lang="ja-JP" altLang="en-US" sz="4400" dirty="0">
                <a:solidFill>
                  <a:srgbClr val="E3022C"/>
                </a:solidFill>
                <a:uFill>
                  <a:solidFill>
                    <a:srgbClr val="525252"/>
                  </a:solidFill>
                </a:uFill>
                <a:latin typeface="+mn-ea"/>
                <a:cs typeface="Hiragino Kaku Gothic Pro W3" charset="-128"/>
                <a:sym typeface="Gill Sans Light"/>
              </a:rPr>
              <a:t>売り込みなしでご成約</a:t>
            </a:r>
          </a:p>
        </p:txBody>
      </p:sp>
    </p:spTree>
    <p:extLst>
      <p:ext uri="{BB962C8B-B14F-4D97-AF65-F5344CB8AC3E}">
        <p14:creationId xmlns:p14="http://schemas.microsoft.com/office/powerpoint/2010/main" val="3799749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81"/>
          <p:cNvSpPr/>
          <p:nvPr/>
        </p:nvSpPr>
        <p:spPr>
          <a:xfrm>
            <a:off x="526694" y="142216"/>
            <a:ext cx="11665306" cy="6578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11299" tIns="11299" rIns="11299" bIns="11299" anchor="ctr">
            <a:spAutoFit/>
          </a:bodyPr>
          <a:lstStyle/>
          <a:p>
            <a:pPr algn="ctr"/>
            <a:r>
              <a:rPr lang="ja-JP" altLang="en-US" sz="6600" dirty="0">
                <a:latin typeface="+mn-ea"/>
                <a:cs typeface="ヒラギノ角ゴ Pro W3"/>
              </a:rPr>
              <a:t>今日のまとめ</a:t>
            </a:r>
            <a:endParaRPr lang="en-US" altLang="ja-JP" sz="6600" dirty="0">
              <a:latin typeface="+mn-ea"/>
              <a:cs typeface="ヒラギノ角ゴ Pro W3"/>
            </a:endParaRPr>
          </a:p>
          <a:p>
            <a:r>
              <a:rPr lang="ja-JP" altLang="en-US" sz="6000" dirty="0">
                <a:latin typeface="+mn-ea"/>
                <a:cs typeface="ヒラギノ角ゴ Pro W3"/>
              </a:rPr>
              <a:t>・刈り取り型の集客ではなくて</a:t>
            </a:r>
            <a:endParaRPr lang="en-US" altLang="ja-JP" sz="6000" dirty="0">
              <a:latin typeface="+mn-ea"/>
              <a:cs typeface="ヒラギノ角ゴ Pro W3"/>
            </a:endParaRPr>
          </a:p>
          <a:p>
            <a:r>
              <a:rPr lang="ja-JP" altLang="en-US" sz="6000" dirty="0">
                <a:latin typeface="+mn-ea"/>
                <a:cs typeface="ヒラギノ角ゴ Pro W3"/>
              </a:rPr>
              <a:t>　</a:t>
            </a:r>
            <a:r>
              <a:rPr lang="ja-JP" altLang="en-US" sz="6000" dirty="0">
                <a:solidFill>
                  <a:srgbClr val="E3022C"/>
                </a:solidFill>
                <a:latin typeface="+mn-ea"/>
                <a:cs typeface="ヒラギノ角ゴ Pro W3"/>
              </a:rPr>
              <a:t>育む集客</a:t>
            </a:r>
            <a:r>
              <a:rPr lang="ja-JP" altLang="en-US" sz="6000" dirty="0">
                <a:latin typeface="+mn-ea"/>
                <a:cs typeface="ヒラギノ角ゴ Pro W3"/>
              </a:rPr>
              <a:t>が大切</a:t>
            </a:r>
            <a:endParaRPr lang="en-US" altLang="ja-JP" sz="6000" dirty="0">
              <a:latin typeface="+mn-ea"/>
              <a:cs typeface="ヒラギノ角ゴ Pro W3"/>
            </a:endParaRPr>
          </a:p>
          <a:p>
            <a:r>
              <a:rPr lang="ja-JP" altLang="en-US" sz="6000" dirty="0">
                <a:latin typeface="+mn-ea"/>
                <a:cs typeface="ヒラギノ角ゴ Pro W3"/>
              </a:rPr>
              <a:t>・</a:t>
            </a:r>
            <a:r>
              <a:rPr lang="ja-JP" altLang="en-US" sz="6000" dirty="0">
                <a:solidFill>
                  <a:srgbClr val="E3022C"/>
                </a:solidFill>
                <a:latin typeface="+mn-ea"/>
                <a:cs typeface="ヒラギノ角ゴ Pro W3"/>
              </a:rPr>
              <a:t>影響力</a:t>
            </a:r>
            <a:r>
              <a:rPr lang="ja-JP" altLang="en-US" sz="6000" dirty="0">
                <a:latin typeface="+mn-ea"/>
                <a:cs typeface="ヒラギノ角ゴ Pro W3"/>
              </a:rPr>
              <a:t>のある人の力を借りる</a:t>
            </a:r>
            <a:endParaRPr lang="en-US" altLang="ja-JP" sz="6000" dirty="0">
              <a:latin typeface="+mn-ea"/>
              <a:cs typeface="ヒラギノ角ゴ Pro W3"/>
            </a:endParaRPr>
          </a:p>
          <a:p>
            <a:r>
              <a:rPr lang="ja-JP" altLang="en-US" sz="6000" dirty="0">
                <a:latin typeface="+mn-ea"/>
                <a:cs typeface="ヒラギノ角ゴ Pro W3"/>
              </a:rPr>
              <a:t>・ライブ集客は単発ではなく</a:t>
            </a:r>
            <a:endParaRPr lang="en-US" altLang="ja-JP" sz="6000" dirty="0">
              <a:latin typeface="+mn-ea"/>
              <a:cs typeface="ヒラギノ角ゴ Pro W3"/>
            </a:endParaRPr>
          </a:p>
          <a:p>
            <a:r>
              <a:rPr lang="ja-JP" altLang="en-US" sz="6000" dirty="0">
                <a:latin typeface="+mn-ea"/>
                <a:cs typeface="ヒラギノ角ゴ Pro W3"/>
              </a:rPr>
              <a:t>　</a:t>
            </a:r>
            <a:r>
              <a:rPr lang="ja-JP" altLang="en-US" sz="6000" dirty="0">
                <a:solidFill>
                  <a:srgbClr val="E3022C"/>
                </a:solidFill>
                <a:latin typeface="+mn-ea"/>
                <a:cs typeface="ヒラギノ角ゴ Pro W3"/>
              </a:rPr>
              <a:t>流れ・戦略</a:t>
            </a:r>
            <a:r>
              <a:rPr lang="ja-JP" altLang="en-US" sz="6000" dirty="0">
                <a:latin typeface="+mn-ea"/>
                <a:cs typeface="ヒラギノ角ゴ Pro W3"/>
              </a:rPr>
              <a:t>の中で使う</a:t>
            </a:r>
            <a:endParaRPr lang="en-US" altLang="ja-JP" sz="6000" dirty="0">
              <a:latin typeface="+mn-ea"/>
              <a:cs typeface="ヒラギノ角ゴ Pro W3"/>
            </a:endParaRPr>
          </a:p>
          <a:p>
            <a:r>
              <a:rPr lang="ja-JP" altLang="en-US" sz="6000" dirty="0">
                <a:latin typeface="+mn-ea"/>
                <a:cs typeface="ヒラギノ角ゴ Pro W3"/>
              </a:rPr>
              <a:t>・</a:t>
            </a:r>
            <a:r>
              <a:rPr lang="ja-JP" altLang="en-US" sz="6000" dirty="0">
                <a:solidFill>
                  <a:srgbClr val="E3022C"/>
                </a:solidFill>
                <a:latin typeface="+mn-ea"/>
                <a:cs typeface="ヒラギノ角ゴ Pro W3"/>
              </a:rPr>
              <a:t>魅力的な高単価商品</a:t>
            </a:r>
            <a:r>
              <a:rPr lang="ja-JP" altLang="en-US" sz="6000" dirty="0">
                <a:latin typeface="+mn-ea"/>
                <a:cs typeface="ヒラギノ角ゴ Pro W3"/>
              </a:rPr>
              <a:t>も必要</a:t>
            </a:r>
            <a:endParaRPr lang="en-US" altLang="ja-JP" sz="6000" dirty="0">
              <a:latin typeface="+mn-ea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1110863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Shape 609"/>
          <p:cNvSpPr/>
          <p:nvPr/>
        </p:nvSpPr>
        <p:spPr>
          <a:xfrm>
            <a:off x="1817233" y="3057470"/>
            <a:ext cx="8557535" cy="743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0" tIns="35710" rIns="35710" bIns="35710" anchor="ctr">
            <a:spAutoFit/>
          </a:bodyPr>
          <a:lstStyle/>
          <a:p>
            <a:pPr algn="ctr" defTabSz="315797">
              <a:buClr>
                <a:srgbClr val="525252"/>
              </a:buClr>
              <a:buFont typeface="Gill Sans Light"/>
              <a:tabLst>
                <a:tab pos="312447" algn="l"/>
                <a:tab pos="633826" algn="l"/>
                <a:tab pos="946272" algn="l"/>
                <a:tab pos="1258722" algn="l"/>
                <a:tab pos="1580097" algn="l"/>
                <a:tab pos="1892544" algn="l"/>
                <a:tab pos="2204995" algn="l"/>
                <a:tab pos="2526368" algn="l"/>
                <a:tab pos="2838816" algn="l"/>
                <a:tab pos="3160191" algn="l"/>
                <a:tab pos="3472636" algn="l"/>
                <a:tab pos="3785087" algn="l"/>
                <a:tab pos="4106464" algn="l"/>
                <a:tab pos="4418914" algn="l"/>
                <a:tab pos="4731362" algn="l"/>
                <a:tab pos="5052735" algn="l"/>
                <a:tab pos="5365187" algn="l"/>
                <a:tab pos="5686562" algn="l"/>
                <a:tab pos="5999010" algn="l"/>
                <a:tab pos="6311458" algn="l"/>
                <a:tab pos="6614979" algn="l"/>
                <a:tab pos="7123827" algn="l"/>
                <a:tab pos="7632666" algn="l"/>
                <a:tab pos="8141512" algn="l"/>
                <a:tab pos="8212929" algn="l"/>
              </a:tabLst>
              <a:defRPr sz="6200">
                <a:solidFill>
                  <a:srgbClr val="515251"/>
                </a:solidFill>
                <a:uFill>
                  <a:solidFill>
                    <a:srgbClr val="525252"/>
                  </a:solidFill>
                </a:u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sz="4360" dirty="0"/>
          </a:p>
        </p:txBody>
      </p:sp>
      <p:sp>
        <p:nvSpPr>
          <p:cNvPr id="3" name="正方形/長方形 2"/>
          <p:cNvSpPr/>
          <p:nvPr/>
        </p:nvSpPr>
        <p:spPr>
          <a:xfrm>
            <a:off x="2185972" y="2798249"/>
            <a:ext cx="8172078" cy="1296010"/>
          </a:xfrm>
          <a:prstGeom prst="rect">
            <a:avLst/>
          </a:prstGeom>
        </p:spPr>
        <p:txBody>
          <a:bodyPr wrap="square" lIns="64280" tIns="32138" rIns="64280" bIns="32138">
            <a:spAutoFit/>
          </a:bodyPr>
          <a:lstStyle/>
          <a:p>
            <a:pPr algn="ctr"/>
            <a:r>
              <a:rPr lang="ja-JP" altLang="en-US" sz="8000" dirty="0">
                <a:latin typeface="+mn-ea"/>
              </a:rPr>
              <a:t>最後に・・・</a:t>
            </a:r>
          </a:p>
        </p:txBody>
      </p:sp>
    </p:spTree>
    <p:extLst>
      <p:ext uri="{BB962C8B-B14F-4D97-AF65-F5344CB8AC3E}">
        <p14:creationId xmlns:p14="http://schemas.microsoft.com/office/powerpoint/2010/main" val="1280694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xmlns:p14="http://schemas.microsoft.com/office/powerpoint/2010/main" spd="slow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CE44503A-1D48-479E-A386-F355D4644BC4}"/>
              </a:ext>
            </a:extLst>
          </p:cNvPr>
          <p:cNvSpPr/>
          <p:nvPr/>
        </p:nvSpPr>
        <p:spPr>
          <a:xfrm>
            <a:off x="1061373" y="737821"/>
            <a:ext cx="10161756" cy="53860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７種類のライブ集客と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pPr algn="ctr"/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オンライン完結型ビジネスで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pPr algn="ctr"/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月商</a:t>
            </a:r>
            <a:r>
              <a:rPr lang="en-US" altLang="ja-JP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100</a:t>
            </a: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万円が売上がる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pPr algn="ctr"/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設計図を作る</a:t>
            </a:r>
            <a:br>
              <a:rPr lang="en-US" altLang="ja-JP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</a:br>
            <a:r>
              <a:rPr lang="ja-JP" altLang="en-US" sz="8000" dirty="0">
                <a:solidFill>
                  <a:srgbClr val="E3022C"/>
                </a:solidFill>
                <a:latin typeface="+mn-ea"/>
              </a:rPr>
              <a:t>特別コンサルティング</a:t>
            </a:r>
            <a:endParaRPr lang="en-US" altLang="ja-JP" sz="8000" dirty="0">
              <a:solidFill>
                <a:srgbClr val="E3022C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7177644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CE44503A-1D48-479E-A386-F355D4644BC4}"/>
              </a:ext>
            </a:extLst>
          </p:cNvPr>
          <p:cNvSpPr/>
          <p:nvPr/>
        </p:nvSpPr>
        <p:spPr>
          <a:xfrm>
            <a:off x="1391583" y="849589"/>
            <a:ext cx="9501319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時間 </a:t>
            </a:r>
            <a:r>
              <a:rPr lang="en-US" altLang="ja-JP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120</a:t>
            </a: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分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pPr algn="ctr"/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通常価格 </a:t>
            </a:r>
            <a:r>
              <a:rPr lang="en-US" altLang="ja-JP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55,000</a:t>
            </a:r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円（税込）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E44503A-1D48-479E-A386-F355D4644BC4}"/>
              </a:ext>
            </a:extLst>
          </p:cNvPr>
          <p:cNvSpPr/>
          <p:nvPr/>
        </p:nvSpPr>
        <p:spPr>
          <a:xfrm>
            <a:off x="2435025" y="2973247"/>
            <a:ext cx="7394973" cy="31393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↓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ja-JP" altLang="en-US" sz="6600" dirty="0">
                <a:solidFill>
                  <a:srgbClr val="E3022C"/>
                </a:solidFill>
                <a:latin typeface="+mn-ea"/>
                <a:cs typeface="メイリオ" panose="020B0604030504040204" pitchFamily="50" charset="-128"/>
              </a:rPr>
              <a:t>セミナー参加者限定</a:t>
            </a:r>
            <a:endParaRPr lang="en-US" altLang="ja-JP" sz="6600" dirty="0">
              <a:solidFill>
                <a:srgbClr val="E3022C"/>
              </a:solidFill>
              <a:latin typeface="+mn-ea"/>
              <a:cs typeface="メイリオ" panose="020B0604030504040204" pitchFamily="50" charset="-128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ja-JP" altLang="en-US" sz="6600" dirty="0">
                <a:solidFill>
                  <a:srgbClr val="E3022C"/>
                </a:solidFill>
                <a:latin typeface="+mn-ea"/>
                <a:cs typeface="メイリオ" panose="020B0604030504040204" pitchFamily="50" charset="-128"/>
              </a:rPr>
              <a:t>無料</a:t>
            </a:r>
            <a:endParaRPr lang="en-US" altLang="ja-JP" sz="6600" dirty="0">
              <a:solidFill>
                <a:srgbClr val="E3022C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509707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1">
            <a:extLst>
              <a:ext uri="{FF2B5EF4-FFF2-40B4-BE49-F238E27FC236}">
                <a16:creationId xmlns:a16="http://schemas.microsoft.com/office/drawing/2014/main" id="{0174FD23-B25B-4B31-9C3B-7A996A0A6C5F}"/>
              </a:ext>
            </a:extLst>
          </p:cNvPr>
          <p:cNvSpPr txBox="1">
            <a:spLocks noChangeArrowheads="1"/>
          </p:cNvSpPr>
          <p:nvPr/>
        </p:nvSpPr>
        <p:spPr>
          <a:xfrm>
            <a:off x="946027" y="1063017"/>
            <a:ext cx="10334171" cy="69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メイリオ" pitchFamily="50" charset="-128"/>
              </a:rPr>
              <a:t>ご参加の方限りの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  <a:cs typeface="メイリオ" pitchFamily="50" charset="-128"/>
            </a:endParaRPr>
          </a:p>
          <a:p>
            <a:r>
              <a:rPr lang="ja-JP" altLang="en-US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メイリオ" pitchFamily="50" charset="-128"/>
              </a:rPr>
              <a:t>特別なご提案</a:t>
            </a:r>
            <a:endParaRPr lang="en-US" altLang="ja-JP" sz="6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  <a:cs typeface="メイリオ" pitchFamily="50" charset="-128"/>
            </a:endParaRPr>
          </a:p>
        </p:txBody>
      </p:sp>
      <p:sp>
        <p:nvSpPr>
          <p:cNvPr id="9" name="Rectangle 41">
            <a:extLst>
              <a:ext uri="{FF2B5EF4-FFF2-40B4-BE49-F238E27FC236}">
                <a16:creationId xmlns:a16="http://schemas.microsoft.com/office/drawing/2014/main" id="{CA949BCE-45BD-446C-94F7-39E169A327E9}"/>
              </a:ext>
            </a:extLst>
          </p:cNvPr>
          <p:cNvSpPr txBox="1">
            <a:spLocks noChangeArrowheads="1"/>
          </p:cNvSpPr>
          <p:nvPr/>
        </p:nvSpPr>
        <p:spPr>
          <a:xfrm>
            <a:off x="1467364" y="2992895"/>
            <a:ext cx="9010136" cy="31466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ja-JP" altLang="en-US" sz="6600" dirty="0">
                <a:solidFill>
                  <a:srgbClr val="E3022C"/>
                </a:solidFill>
                <a:latin typeface="+mn-ea"/>
                <a:ea typeface="+mn-ea"/>
              </a:rPr>
              <a:t>７種類のライブ集客</a:t>
            </a:r>
            <a:endParaRPr lang="en-US" altLang="ja-JP" sz="6600" dirty="0">
              <a:solidFill>
                <a:srgbClr val="E3022C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ja-JP" altLang="en-US" sz="6600" dirty="0">
                <a:solidFill>
                  <a:srgbClr val="E3022C"/>
                </a:solidFill>
                <a:latin typeface="+mn-ea"/>
                <a:ea typeface="+mn-ea"/>
              </a:rPr>
              <a:t>構築講座</a:t>
            </a:r>
            <a:endParaRPr lang="en-US" altLang="ja-JP" sz="6600" dirty="0">
              <a:solidFill>
                <a:srgbClr val="E3022C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ja-JP" altLang="en-US" sz="6600" dirty="0">
                <a:solidFill>
                  <a:srgbClr val="E3022C"/>
                </a:solidFill>
                <a:latin typeface="+mn-ea"/>
                <a:ea typeface="+mn-ea"/>
              </a:rPr>
              <a:t>＜本講座のご案内＞</a:t>
            </a:r>
            <a:endParaRPr lang="en-US" altLang="ja-JP" sz="6600" dirty="0">
              <a:solidFill>
                <a:srgbClr val="E3022C"/>
              </a:solidFill>
              <a:latin typeface="+mn-ea"/>
              <a:ea typeface="+mn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388218B-E87A-4084-97BD-8B3742E358A1}"/>
              </a:ext>
            </a:extLst>
          </p:cNvPr>
          <p:cNvSpPr/>
          <p:nvPr/>
        </p:nvSpPr>
        <p:spPr>
          <a:xfrm>
            <a:off x="1587499" y="3008701"/>
            <a:ext cx="9004301" cy="3203414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1189761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>
            <a:extLst>
              <a:ext uri="{FF2B5EF4-FFF2-40B4-BE49-F238E27FC236}">
                <a16:creationId xmlns:a16="http://schemas.microsoft.com/office/drawing/2014/main" id="{9C72EE23-71D6-40B3-939D-106C666F7AA8}"/>
              </a:ext>
            </a:extLst>
          </p:cNvPr>
          <p:cNvSpPr txBox="1">
            <a:spLocks/>
          </p:cNvSpPr>
          <p:nvPr/>
        </p:nvSpPr>
        <p:spPr bwMode="gray">
          <a:xfrm>
            <a:off x="1670768" y="2411009"/>
            <a:ext cx="8928992" cy="203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10000"/>
              </a:spcAft>
              <a:buClr>
                <a:srgbClr val="A30B1A"/>
              </a:buClr>
              <a:buFont typeface="Wingdings" pitchFamily="2" charset="2"/>
              <a:buChar char="n"/>
              <a:tabLst>
                <a:tab pos="3676650" algn="l"/>
              </a:tabLst>
              <a:defRPr kumimoji="1" sz="2400">
                <a:solidFill>
                  <a:srgbClr val="000000"/>
                </a:solidFill>
                <a:latin typeface="Arial" charset="0"/>
                <a:ea typeface="ＭＳ Ｐゴシック" pitchFamily="50" charset="-128"/>
                <a:cs typeface="Arial" charset="0"/>
              </a:defRPr>
            </a:lvl1pPr>
            <a:lvl2pPr marL="742950" indent="-285750" algn="l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10000"/>
              </a:spcAft>
              <a:buClr>
                <a:srgbClr val="87867E"/>
              </a:buClr>
              <a:buFont typeface="Wingdings" pitchFamily="2" charset="2"/>
              <a:buChar char="n"/>
              <a:tabLst>
                <a:tab pos="3676650" algn="l"/>
              </a:tabLst>
              <a:defRPr kumimoji="1" sz="2000">
                <a:solidFill>
                  <a:srgbClr val="000000"/>
                </a:solidFill>
                <a:latin typeface="Arial" charset="0"/>
                <a:ea typeface="ＭＳ Ｐゴシック" pitchFamily="50" charset="-128"/>
                <a:cs typeface="Arial" charset="0"/>
              </a:defRPr>
            </a:lvl2pPr>
            <a:lvl3pPr marL="1143000" indent="-228600" algn="l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10000"/>
              </a:spcAft>
              <a:buClr>
                <a:srgbClr val="87867E"/>
              </a:buClr>
              <a:buSzPct val="100000"/>
              <a:buChar char="•"/>
              <a:tabLst>
                <a:tab pos="3676650" algn="l"/>
              </a:tabLst>
              <a:defRPr kumimoji="1">
                <a:solidFill>
                  <a:srgbClr val="000000"/>
                </a:solidFill>
                <a:latin typeface="Arial" charset="0"/>
                <a:ea typeface="ＭＳ Ｐゴシック" pitchFamily="50" charset="-128"/>
                <a:cs typeface="Arial" charset="0"/>
              </a:defRPr>
            </a:lvl3pPr>
            <a:lvl4pPr marL="1600200" indent="-228600" algn="l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10000"/>
              </a:spcAft>
              <a:buClr>
                <a:srgbClr val="87867E"/>
              </a:buClr>
              <a:buSzPct val="100000"/>
              <a:buChar char="•"/>
              <a:tabLst>
                <a:tab pos="36766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ＭＳ Ｐゴシック" pitchFamily="50" charset="-128"/>
                <a:cs typeface="Arial" charset="0"/>
              </a:defRPr>
            </a:lvl4pPr>
            <a:lvl5pPr marL="2057400" indent="-228600" algn="l" eaLnBrk="0" fontAlgn="base" hangingPunct="0">
              <a:buBlip>
                <a:blip r:embed="rId3"/>
              </a:buBlip>
              <a:tabLst>
                <a:tab pos="3676650" algn="l"/>
              </a:tabLst>
              <a:defRPr kumimoji="1" sz="2000">
                <a:solidFill>
                  <a:srgbClr val="000000"/>
                </a:solidFill>
                <a:latin typeface="Arial" charset="0"/>
                <a:ea typeface="ＭＳ Ｐゴシック" pitchFamily="50" charset="-128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Blip>
                <a:blip r:embed="rId3"/>
              </a:buBlip>
              <a:tabLst>
                <a:tab pos="3676650" algn="l"/>
              </a:tabLst>
              <a:defRPr kumimoji="1" sz="2000">
                <a:solidFill>
                  <a:srgbClr val="000000"/>
                </a:solidFill>
                <a:latin typeface="Arial" charset="0"/>
                <a:ea typeface="ＭＳ Ｐゴシック" pitchFamily="50" charset="-128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Blip>
                <a:blip r:embed="rId3"/>
              </a:buBlip>
              <a:tabLst>
                <a:tab pos="3676650" algn="l"/>
              </a:tabLst>
              <a:defRPr kumimoji="1" sz="2000">
                <a:solidFill>
                  <a:srgbClr val="000000"/>
                </a:solidFill>
                <a:latin typeface="Arial" charset="0"/>
                <a:ea typeface="ＭＳ Ｐゴシック" pitchFamily="50" charset="-128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Blip>
                <a:blip r:embed="rId3"/>
              </a:buBlip>
              <a:tabLst>
                <a:tab pos="3676650" algn="l"/>
              </a:tabLst>
              <a:defRPr kumimoji="1" sz="2000">
                <a:solidFill>
                  <a:srgbClr val="000000"/>
                </a:solidFill>
                <a:latin typeface="Arial" charset="0"/>
                <a:ea typeface="ＭＳ Ｐゴシック" pitchFamily="50" charset="-128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Blip>
                <a:blip r:embed="rId3"/>
              </a:buBlip>
              <a:tabLst>
                <a:tab pos="3676650" algn="l"/>
              </a:tabLst>
              <a:defRPr kumimoji="1" sz="2000">
                <a:solidFill>
                  <a:srgbClr val="000000"/>
                </a:solidFill>
                <a:latin typeface="Arial" charset="0"/>
                <a:ea typeface="ＭＳ Ｐゴシック" pitchFamily="50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ja-JP" altLang="en-US" sz="6600" dirty="0">
                <a:solidFill>
                  <a:schemeClr val="tx1"/>
                </a:solidFill>
                <a:latin typeface="+mn-ea"/>
                <a:ea typeface="+mn-ea"/>
                <a:cs typeface="メイリオ" panose="020B0604030504040204" pitchFamily="50" charset="-128"/>
              </a:rPr>
              <a:t>希望日程を</a:t>
            </a:r>
            <a:endParaRPr lang="en-US" altLang="ja-JP" sz="6600" dirty="0">
              <a:solidFill>
                <a:schemeClr val="tx1"/>
              </a:solidFill>
              <a:latin typeface="+mn-ea"/>
              <a:ea typeface="+mn-ea"/>
              <a:cs typeface="メイリオ" panose="020B0604030504040204" pitchFamily="50" charset="-128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ja-JP" altLang="en-US" sz="6600" dirty="0">
                <a:solidFill>
                  <a:schemeClr val="tx1"/>
                </a:solidFill>
                <a:latin typeface="+mn-ea"/>
                <a:ea typeface="+mn-ea"/>
                <a:cs typeface="メイリオ" panose="020B0604030504040204" pitchFamily="50" charset="-128"/>
              </a:rPr>
              <a:t>お伺いします</a:t>
            </a:r>
            <a:endParaRPr lang="en-US" altLang="ja-JP" sz="6600" dirty="0">
              <a:solidFill>
                <a:schemeClr val="tx1"/>
              </a:solidFill>
              <a:latin typeface="+mn-ea"/>
              <a:ea typeface="+mn-ea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6227924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>
            <a:extLst>
              <a:ext uri="{FF2B5EF4-FFF2-40B4-BE49-F238E27FC236}">
                <a16:creationId xmlns:a16="http://schemas.microsoft.com/office/drawing/2014/main" id="{9C72EE23-71D6-40B3-939D-106C666F7AA8}"/>
              </a:ext>
            </a:extLst>
          </p:cNvPr>
          <p:cNvSpPr txBox="1">
            <a:spLocks/>
          </p:cNvSpPr>
          <p:nvPr/>
        </p:nvSpPr>
        <p:spPr bwMode="gray">
          <a:xfrm>
            <a:off x="1758736" y="498071"/>
            <a:ext cx="10098544" cy="6251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10000"/>
              </a:spcAft>
              <a:buClr>
                <a:srgbClr val="A30B1A"/>
              </a:buClr>
              <a:buFont typeface="Wingdings" pitchFamily="2" charset="2"/>
              <a:buChar char="n"/>
              <a:tabLst>
                <a:tab pos="3676650" algn="l"/>
              </a:tabLst>
              <a:defRPr kumimoji="1" sz="2400">
                <a:solidFill>
                  <a:srgbClr val="000000"/>
                </a:solidFill>
                <a:latin typeface="Arial" charset="0"/>
                <a:ea typeface="ＭＳ Ｐゴシック" pitchFamily="50" charset="-128"/>
                <a:cs typeface="Arial" charset="0"/>
              </a:defRPr>
            </a:lvl1pPr>
            <a:lvl2pPr marL="742950" indent="-285750" algn="l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10000"/>
              </a:spcAft>
              <a:buClr>
                <a:srgbClr val="87867E"/>
              </a:buClr>
              <a:buFont typeface="Wingdings" pitchFamily="2" charset="2"/>
              <a:buChar char="n"/>
              <a:tabLst>
                <a:tab pos="3676650" algn="l"/>
              </a:tabLst>
              <a:defRPr kumimoji="1" sz="2000">
                <a:solidFill>
                  <a:srgbClr val="000000"/>
                </a:solidFill>
                <a:latin typeface="Arial" charset="0"/>
                <a:ea typeface="ＭＳ Ｐゴシック" pitchFamily="50" charset="-128"/>
                <a:cs typeface="Arial" charset="0"/>
              </a:defRPr>
            </a:lvl2pPr>
            <a:lvl3pPr marL="1143000" indent="-228600" algn="l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10000"/>
              </a:spcAft>
              <a:buClr>
                <a:srgbClr val="87867E"/>
              </a:buClr>
              <a:buSzPct val="100000"/>
              <a:buChar char="•"/>
              <a:tabLst>
                <a:tab pos="3676650" algn="l"/>
              </a:tabLst>
              <a:defRPr kumimoji="1">
                <a:solidFill>
                  <a:srgbClr val="000000"/>
                </a:solidFill>
                <a:latin typeface="Arial" charset="0"/>
                <a:ea typeface="ＭＳ Ｐゴシック" pitchFamily="50" charset="-128"/>
                <a:cs typeface="Arial" charset="0"/>
              </a:defRPr>
            </a:lvl3pPr>
            <a:lvl4pPr marL="1600200" indent="-228600" algn="l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10000"/>
              </a:spcAft>
              <a:buClr>
                <a:srgbClr val="87867E"/>
              </a:buClr>
              <a:buSzPct val="100000"/>
              <a:buChar char="•"/>
              <a:tabLst>
                <a:tab pos="36766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ＭＳ Ｐゴシック" pitchFamily="50" charset="-128"/>
                <a:cs typeface="Arial" charset="0"/>
              </a:defRPr>
            </a:lvl4pPr>
            <a:lvl5pPr marL="2057400" indent="-228600" algn="l" eaLnBrk="0" fontAlgn="base" hangingPunct="0">
              <a:buBlip>
                <a:blip r:embed="rId3"/>
              </a:buBlip>
              <a:tabLst>
                <a:tab pos="3676650" algn="l"/>
              </a:tabLst>
              <a:defRPr kumimoji="1" sz="2000">
                <a:solidFill>
                  <a:srgbClr val="000000"/>
                </a:solidFill>
                <a:latin typeface="Arial" charset="0"/>
                <a:ea typeface="ＭＳ Ｐゴシック" pitchFamily="50" charset="-128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Blip>
                <a:blip r:embed="rId3"/>
              </a:buBlip>
              <a:tabLst>
                <a:tab pos="3676650" algn="l"/>
              </a:tabLst>
              <a:defRPr kumimoji="1" sz="2000">
                <a:solidFill>
                  <a:srgbClr val="000000"/>
                </a:solidFill>
                <a:latin typeface="Arial" charset="0"/>
                <a:ea typeface="ＭＳ Ｐゴシック" pitchFamily="50" charset="-128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Blip>
                <a:blip r:embed="rId3"/>
              </a:buBlip>
              <a:tabLst>
                <a:tab pos="3676650" algn="l"/>
              </a:tabLst>
              <a:defRPr kumimoji="1" sz="2000">
                <a:solidFill>
                  <a:srgbClr val="000000"/>
                </a:solidFill>
                <a:latin typeface="Arial" charset="0"/>
                <a:ea typeface="ＭＳ Ｐゴシック" pitchFamily="50" charset="-128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Blip>
                <a:blip r:embed="rId3"/>
              </a:buBlip>
              <a:tabLst>
                <a:tab pos="3676650" algn="l"/>
              </a:tabLst>
              <a:defRPr kumimoji="1" sz="2000">
                <a:solidFill>
                  <a:srgbClr val="000000"/>
                </a:solidFill>
                <a:latin typeface="Arial" charset="0"/>
                <a:ea typeface="ＭＳ Ｐゴシック" pitchFamily="50" charset="-128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Blip>
                <a:blip r:embed="rId3"/>
              </a:buBlip>
              <a:tabLst>
                <a:tab pos="3676650" algn="l"/>
              </a:tabLst>
              <a:defRPr kumimoji="1" sz="2000">
                <a:solidFill>
                  <a:srgbClr val="000000"/>
                </a:solidFill>
                <a:latin typeface="Arial" charset="0"/>
                <a:ea typeface="ＭＳ Ｐゴシック" pitchFamily="50" charset="-128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ja-JP" sz="3600" b="1" dirty="0">
                <a:solidFill>
                  <a:schemeClr val="tx1"/>
                </a:solidFill>
                <a:latin typeface="+mn-ea"/>
                <a:cs typeface="メイリオ" panose="020B0604030504040204" pitchFamily="50" charset="-128"/>
              </a:rPr>
              <a:t>12/23(</a:t>
            </a:r>
            <a:r>
              <a:rPr lang="ja-JP" altLang="en-US" sz="3600" b="1" dirty="0">
                <a:solidFill>
                  <a:schemeClr val="tx1"/>
                </a:solidFill>
                <a:latin typeface="+mn-ea"/>
                <a:cs typeface="メイリオ" panose="020B0604030504040204" pitchFamily="50" charset="-128"/>
              </a:rPr>
              <a:t>木</a:t>
            </a:r>
            <a:r>
              <a:rPr lang="en-US" altLang="ja-JP" sz="3600" b="1" dirty="0">
                <a:solidFill>
                  <a:schemeClr val="tx1"/>
                </a:solidFill>
                <a:latin typeface="+mn-ea"/>
                <a:cs typeface="メイリオ" panose="020B0604030504040204" pitchFamily="50" charset="-128"/>
              </a:rPr>
              <a:t>)16:00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ja-JP" sz="3600" b="1" dirty="0">
                <a:solidFill>
                  <a:schemeClr val="tx1"/>
                </a:solidFill>
                <a:latin typeface="+mn-ea"/>
                <a:cs typeface="メイリオ" panose="020B0604030504040204" pitchFamily="50" charset="-128"/>
              </a:rPr>
              <a:t>12/24(</a:t>
            </a:r>
            <a:r>
              <a:rPr lang="ja-JP" altLang="en-US" sz="3600" b="1" dirty="0">
                <a:solidFill>
                  <a:schemeClr val="tx1"/>
                </a:solidFill>
                <a:latin typeface="+mn-ea"/>
                <a:cs typeface="メイリオ" panose="020B0604030504040204" pitchFamily="50" charset="-128"/>
              </a:rPr>
              <a:t>金</a:t>
            </a:r>
            <a:r>
              <a:rPr lang="en-US" altLang="ja-JP" sz="3600" b="1" dirty="0">
                <a:solidFill>
                  <a:schemeClr val="tx1"/>
                </a:solidFill>
                <a:latin typeface="+mn-ea"/>
                <a:cs typeface="メイリオ" panose="020B0604030504040204" pitchFamily="50" charset="-128"/>
              </a:rPr>
              <a:t>)16:00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ja-JP" sz="3600" b="1" dirty="0">
                <a:solidFill>
                  <a:schemeClr val="tx1"/>
                </a:solidFill>
                <a:latin typeface="+mn-ea"/>
                <a:cs typeface="メイリオ" panose="020B0604030504040204" pitchFamily="50" charset="-128"/>
              </a:rPr>
              <a:t>12/26(</a:t>
            </a:r>
            <a:r>
              <a:rPr lang="ja-JP" altLang="en-US" sz="3600" b="1" dirty="0">
                <a:solidFill>
                  <a:schemeClr val="tx1"/>
                </a:solidFill>
                <a:latin typeface="+mn-ea"/>
                <a:cs typeface="メイリオ" panose="020B0604030504040204" pitchFamily="50" charset="-128"/>
              </a:rPr>
              <a:t>日</a:t>
            </a:r>
            <a:r>
              <a:rPr lang="en-US" altLang="ja-JP" sz="3600" b="1" dirty="0">
                <a:solidFill>
                  <a:schemeClr val="tx1"/>
                </a:solidFill>
                <a:latin typeface="+mn-ea"/>
                <a:cs typeface="メイリオ" panose="020B0604030504040204" pitchFamily="50" charset="-128"/>
              </a:rPr>
              <a:t>)10:00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ja-JP" sz="3600" b="1" dirty="0">
                <a:solidFill>
                  <a:schemeClr val="tx1"/>
                </a:solidFill>
                <a:latin typeface="+mn-ea"/>
                <a:cs typeface="メイリオ" panose="020B0604030504040204" pitchFamily="50" charset="-128"/>
              </a:rPr>
              <a:t>12/27(</a:t>
            </a:r>
            <a:r>
              <a:rPr lang="ja-JP" altLang="en-US" sz="3600" b="1" dirty="0">
                <a:solidFill>
                  <a:schemeClr val="tx1"/>
                </a:solidFill>
                <a:latin typeface="+mn-ea"/>
                <a:cs typeface="メイリオ" panose="020B0604030504040204" pitchFamily="50" charset="-128"/>
              </a:rPr>
              <a:t>月</a:t>
            </a:r>
            <a:r>
              <a:rPr lang="en-US" altLang="ja-JP" sz="3600" b="1" dirty="0">
                <a:solidFill>
                  <a:schemeClr val="tx1"/>
                </a:solidFill>
                <a:latin typeface="+mn-ea"/>
                <a:cs typeface="メイリオ" panose="020B0604030504040204" pitchFamily="50" charset="-128"/>
              </a:rPr>
              <a:t>)16:00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ja-JP" sz="3600" b="1" dirty="0">
                <a:solidFill>
                  <a:schemeClr val="tx1"/>
                </a:solidFill>
                <a:latin typeface="+mn-ea"/>
                <a:cs typeface="メイリオ" panose="020B0604030504040204" pitchFamily="50" charset="-128"/>
              </a:rPr>
              <a:t>12/27(</a:t>
            </a:r>
            <a:r>
              <a:rPr lang="ja-JP" altLang="en-US" sz="3600" b="1" dirty="0">
                <a:solidFill>
                  <a:schemeClr val="tx1"/>
                </a:solidFill>
                <a:latin typeface="+mn-ea"/>
                <a:cs typeface="メイリオ" panose="020B0604030504040204" pitchFamily="50" charset="-128"/>
              </a:rPr>
              <a:t>月</a:t>
            </a:r>
            <a:r>
              <a:rPr lang="en-US" altLang="ja-JP" sz="3600" b="1" dirty="0">
                <a:solidFill>
                  <a:schemeClr val="tx1"/>
                </a:solidFill>
                <a:latin typeface="+mn-ea"/>
                <a:cs typeface="メイリオ" panose="020B0604030504040204" pitchFamily="50" charset="-128"/>
              </a:rPr>
              <a:t>)20:30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ja-JP" sz="3600" b="1" dirty="0">
                <a:solidFill>
                  <a:schemeClr val="tx1"/>
                </a:solidFill>
                <a:latin typeface="+mn-ea"/>
                <a:cs typeface="メイリオ" panose="020B0604030504040204" pitchFamily="50" charset="-128"/>
              </a:rPr>
              <a:t>12/29(</a:t>
            </a:r>
            <a:r>
              <a:rPr lang="ja-JP" altLang="en-US" sz="3600" b="1" dirty="0">
                <a:solidFill>
                  <a:schemeClr val="tx1"/>
                </a:solidFill>
                <a:latin typeface="+mn-ea"/>
                <a:cs typeface="メイリオ" panose="020B0604030504040204" pitchFamily="50" charset="-128"/>
              </a:rPr>
              <a:t>水</a:t>
            </a:r>
            <a:r>
              <a:rPr lang="en-US" altLang="ja-JP" sz="3600" b="1" dirty="0">
                <a:solidFill>
                  <a:schemeClr val="tx1"/>
                </a:solidFill>
                <a:latin typeface="+mn-ea"/>
                <a:cs typeface="メイリオ" panose="020B0604030504040204" pitchFamily="50" charset="-128"/>
              </a:rPr>
              <a:t>)13:00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ja-JP" sz="3600" b="1" dirty="0">
                <a:solidFill>
                  <a:schemeClr val="tx1"/>
                </a:solidFill>
                <a:latin typeface="+mn-ea"/>
                <a:cs typeface="メイリオ" panose="020B0604030504040204" pitchFamily="50" charset="-128"/>
              </a:rPr>
              <a:t>12/30(</a:t>
            </a:r>
            <a:r>
              <a:rPr lang="ja-JP" altLang="en-US" sz="3600" b="1" dirty="0">
                <a:solidFill>
                  <a:schemeClr val="tx1"/>
                </a:solidFill>
                <a:latin typeface="+mn-ea"/>
                <a:cs typeface="メイリオ" panose="020B0604030504040204" pitchFamily="50" charset="-128"/>
              </a:rPr>
              <a:t>金</a:t>
            </a:r>
            <a:r>
              <a:rPr lang="en-US" altLang="ja-JP" sz="3600" b="1" dirty="0">
                <a:solidFill>
                  <a:schemeClr val="tx1"/>
                </a:solidFill>
                <a:latin typeface="+mn-ea"/>
                <a:cs typeface="メイリオ" panose="020B0604030504040204" pitchFamily="50" charset="-128"/>
              </a:rPr>
              <a:t>)16:00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ja-JP" sz="3600" b="1" dirty="0">
              <a:solidFill>
                <a:schemeClr val="tx1"/>
              </a:solidFill>
              <a:latin typeface="+mn-ea"/>
              <a:cs typeface="メイリオ" panose="020B0604030504040204" pitchFamily="50" charset="-128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ja-JP" sz="3600" b="1" dirty="0">
              <a:solidFill>
                <a:schemeClr val="tx1"/>
              </a:solidFill>
              <a:latin typeface="+mn-ea"/>
              <a:cs typeface="メイリオ" panose="020B0604030504040204" pitchFamily="50" charset="-128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ja-JP" sz="3600" b="1" dirty="0">
              <a:solidFill>
                <a:schemeClr val="tx1"/>
              </a:solidFill>
              <a:latin typeface="+mn-ea"/>
              <a:cs typeface="メイリオ" panose="020B0604030504040204" pitchFamily="50" charset="-128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ja-JP" sz="3600" b="1" dirty="0">
              <a:solidFill>
                <a:schemeClr val="tx1"/>
              </a:solidFill>
              <a:latin typeface="+mn-ea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38184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30168</TotalTime>
  <Words>2154</Words>
  <Application>Microsoft Office PowerPoint</Application>
  <PresentationFormat>ワイド画面</PresentationFormat>
  <Paragraphs>377</Paragraphs>
  <Slides>96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96</vt:i4>
      </vt:variant>
    </vt:vector>
  </HeadingPairs>
  <TitlesOfParts>
    <vt:vector size="102" baseType="lpstr">
      <vt:lpstr>Gill Sans Light</vt:lpstr>
      <vt:lpstr>HG丸ｺﾞｼｯｸM-PRO</vt:lpstr>
      <vt:lpstr>ヒラギノ角ゴ Pro W3</vt:lpstr>
      <vt:lpstr>Arial</vt:lpstr>
      <vt:lpstr>Calibri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『スリーテンプレートマスター塾』 特別セミナー ＆ プレミアム実践コース説明会</dc:title>
  <dc:creator>長山寛</dc:creator>
  <cp:lastModifiedBy>寛 長山</cp:lastModifiedBy>
  <cp:revision>430</cp:revision>
  <cp:lastPrinted>2017-11-02T13:19:28Z</cp:lastPrinted>
  <dcterms:created xsi:type="dcterms:W3CDTF">2017-10-24T12:34:37Z</dcterms:created>
  <dcterms:modified xsi:type="dcterms:W3CDTF">2025-10-27T05:19:32Z</dcterms:modified>
</cp:coreProperties>
</file>